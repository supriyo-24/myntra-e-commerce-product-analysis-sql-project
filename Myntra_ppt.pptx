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onsolas" panose="020B0609020204030204" pitchFamily="49" charset="0"/>
      <p:regular r:id="rId13"/>
      <p:bold r:id="rId14"/>
      <p:italic r:id="rId15"/>
      <p:boldItalic r:id="rId16"/>
    </p:embeddedFont>
    <p:embeddedFont>
      <p:font typeface="Source Sans 3" panose="020B0604020202020204" charset="0"/>
      <p:regular r:id="rId17"/>
    </p:embeddedFont>
    <p:embeddedFont>
      <p:font typeface="Source Serif 4 Semi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8283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E81D0-4F2B-53F1-D9A9-93C2B4F513C9}"/>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IN"/>
          </a:p>
        </p:txBody>
      </p:sp>
      <p:sp>
        <p:nvSpPr>
          <p:cNvPr id="3" name="Subtitle 2">
            <a:extLst>
              <a:ext uri="{FF2B5EF4-FFF2-40B4-BE49-F238E27FC236}">
                <a16:creationId xmlns:a16="http://schemas.microsoft.com/office/drawing/2014/main" id="{3DB602BA-1332-4418-ADBC-CA719B3E02EA}"/>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D78A423-6A79-E8B0-7064-43D2731CA939}"/>
              </a:ext>
            </a:extLst>
          </p:cNvPr>
          <p:cNvSpPr>
            <a:spLocks noGrp="1"/>
          </p:cNvSpPr>
          <p:nvPr>
            <p:ph type="dt" sz="half" idx="10"/>
          </p:nvPr>
        </p:nvSpPr>
        <p:spPr/>
        <p:txBody>
          <a:bodyPr/>
          <a:lstStyle/>
          <a:p>
            <a:fld id="{584794E9-F725-4965-8EFB-A04974ABF593}" type="datetimeFigureOut">
              <a:rPr lang="en-IN" smtClean="0"/>
              <a:t>09-10-2025</a:t>
            </a:fld>
            <a:endParaRPr lang="en-IN"/>
          </a:p>
        </p:txBody>
      </p:sp>
      <p:sp>
        <p:nvSpPr>
          <p:cNvPr id="5" name="Footer Placeholder 4">
            <a:extLst>
              <a:ext uri="{FF2B5EF4-FFF2-40B4-BE49-F238E27FC236}">
                <a16:creationId xmlns:a16="http://schemas.microsoft.com/office/drawing/2014/main" id="{D4AF7508-12A0-246F-A909-36859025F5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892F2F-CF41-2F9F-8950-AA1AF049F0FB}"/>
              </a:ext>
            </a:extLst>
          </p:cNvPr>
          <p:cNvSpPr>
            <a:spLocks noGrp="1"/>
          </p:cNvSpPr>
          <p:nvPr>
            <p:ph type="sldNum" sz="quarter" idx="12"/>
          </p:nvPr>
        </p:nvSpPr>
        <p:spPr/>
        <p:txBody>
          <a:bodyPr/>
          <a:lstStyle/>
          <a:p>
            <a:fld id="{12FCDD4C-FB44-4947-8E46-CE9B6004AD11}" type="slidenum">
              <a:rPr lang="en-IN" smtClean="0"/>
              <a:t>‹#›</a:t>
            </a:fld>
            <a:endParaRPr lang="en-IN"/>
          </a:p>
        </p:txBody>
      </p:sp>
    </p:spTree>
    <p:extLst>
      <p:ext uri="{BB962C8B-B14F-4D97-AF65-F5344CB8AC3E}">
        <p14:creationId xmlns:p14="http://schemas.microsoft.com/office/powerpoint/2010/main" val="103833163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AED75-D581-A4F5-982C-8B8FA31484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6074AD-1A6E-9BEA-AFC5-7EA3A2A4CA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05AC77-8329-0012-A9B3-79F5E3095ECA}"/>
              </a:ext>
            </a:extLst>
          </p:cNvPr>
          <p:cNvSpPr>
            <a:spLocks noGrp="1"/>
          </p:cNvSpPr>
          <p:nvPr>
            <p:ph type="dt" sz="half" idx="10"/>
          </p:nvPr>
        </p:nvSpPr>
        <p:spPr/>
        <p:txBody>
          <a:bodyPr/>
          <a:lstStyle/>
          <a:p>
            <a:fld id="{584794E9-F725-4965-8EFB-A04974ABF593}" type="datetimeFigureOut">
              <a:rPr lang="en-IN" smtClean="0"/>
              <a:t>09-10-2025</a:t>
            </a:fld>
            <a:endParaRPr lang="en-IN"/>
          </a:p>
        </p:txBody>
      </p:sp>
      <p:sp>
        <p:nvSpPr>
          <p:cNvPr id="5" name="Footer Placeholder 4">
            <a:extLst>
              <a:ext uri="{FF2B5EF4-FFF2-40B4-BE49-F238E27FC236}">
                <a16:creationId xmlns:a16="http://schemas.microsoft.com/office/drawing/2014/main" id="{76C3E598-9C7B-3FD6-B086-18F0A61D5D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821050-1EBC-0EB9-3412-66300E8702FB}"/>
              </a:ext>
            </a:extLst>
          </p:cNvPr>
          <p:cNvSpPr>
            <a:spLocks noGrp="1"/>
          </p:cNvSpPr>
          <p:nvPr>
            <p:ph type="sldNum" sz="quarter" idx="12"/>
          </p:nvPr>
        </p:nvSpPr>
        <p:spPr/>
        <p:txBody>
          <a:bodyPr/>
          <a:lstStyle/>
          <a:p>
            <a:fld id="{12FCDD4C-FB44-4947-8E46-CE9B6004AD11}" type="slidenum">
              <a:rPr lang="en-IN" smtClean="0"/>
              <a:t>‹#›</a:t>
            </a:fld>
            <a:endParaRPr lang="en-IN"/>
          </a:p>
        </p:txBody>
      </p:sp>
    </p:spTree>
    <p:extLst>
      <p:ext uri="{BB962C8B-B14F-4D97-AF65-F5344CB8AC3E}">
        <p14:creationId xmlns:p14="http://schemas.microsoft.com/office/powerpoint/2010/main" val="145533041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DB034-5D01-4852-8DB3-439F12065D92}"/>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3D56EE-B50A-EA33-39C4-D7DFE60F751A}"/>
              </a:ext>
            </a:extLst>
          </p:cNvPr>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02CABC-0354-EDAF-9AE7-5C5B2F9011DB}"/>
              </a:ext>
            </a:extLst>
          </p:cNvPr>
          <p:cNvSpPr>
            <a:spLocks noGrp="1"/>
          </p:cNvSpPr>
          <p:nvPr>
            <p:ph type="dt" sz="half" idx="10"/>
          </p:nvPr>
        </p:nvSpPr>
        <p:spPr/>
        <p:txBody>
          <a:bodyPr/>
          <a:lstStyle/>
          <a:p>
            <a:fld id="{584794E9-F725-4965-8EFB-A04974ABF593}" type="datetimeFigureOut">
              <a:rPr lang="en-IN" smtClean="0"/>
              <a:t>09-10-2025</a:t>
            </a:fld>
            <a:endParaRPr lang="en-IN"/>
          </a:p>
        </p:txBody>
      </p:sp>
      <p:sp>
        <p:nvSpPr>
          <p:cNvPr id="5" name="Footer Placeholder 4">
            <a:extLst>
              <a:ext uri="{FF2B5EF4-FFF2-40B4-BE49-F238E27FC236}">
                <a16:creationId xmlns:a16="http://schemas.microsoft.com/office/drawing/2014/main" id="{7C075D07-D08E-CA30-F51B-678F7395E4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22B514-D41C-D5C6-1989-089C11F35347}"/>
              </a:ext>
            </a:extLst>
          </p:cNvPr>
          <p:cNvSpPr>
            <a:spLocks noGrp="1"/>
          </p:cNvSpPr>
          <p:nvPr>
            <p:ph type="sldNum" sz="quarter" idx="12"/>
          </p:nvPr>
        </p:nvSpPr>
        <p:spPr/>
        <p:txBody>
          <a:bodyPr/>
          <a:lstStyle/>
          <a:p>
            <a:fld id="{12FCDD4C-FB44-4947-8E46-CE9B6004AD11}" type="slidenum">
              <a:rPr lang="en-IN" smtClean="0"/>
              <a:t>‹#›</a:t>
            </a:fld>
            <a:endParaRPr lang="en-IN"/>
          </a:p>
        </p:txBody>
      </p:sp>
    </p:spTree>
    <p:extLst>
      <p:ext uri="{BB962C8B-B14F-4D97-AF65-F5344CB8AC3E}">
        <p14:creationId xmlns:p14="http://schemas.microsoft.com/office/powerpoint/2010/main" val="221587726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7B536-7293-452E-F88B-083E98102B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6718A7-3068-4BC7-9841-075592929F49}"/>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15818C-53FB-AAB2-210D-AFB6F1282313}"/>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E61BDCA-DD94-6F84-4B3D-C98E52E45F27}"/>
              </a:ext>
            </a:extLst>
          </p:cNvPr>
          <p:cNvSpPr>
            <a:spLocks noGrp="1"/>
          </p:cNvSpPr>
          <p:nvPr>
            <p:ph type="dt" sz="half" idx="10"/>
          </p:nvPr>
        </p:nvSpPr>
        <p:spPr/>
        <p:txBody>
          <a:bodyPr/>
          <a:lstStyle/>
          <a:p>
            <a:fld id="{584794E9-F725-4965-8EFB-A04974ABF593}" type="datetimeFigureOut">
              <a:rPr lang="en-IN" smtClean="0"/>
              <a:t>09-10-2025</a:t>
            </a:fld>
            <a:endParaRPr lang="en-IN"/>
          </a:p>
        </p:txBody>
      </p:sp>
      <p:sp>
        <p:nvSpPr>
          <p:cNvPr id="6" name="Footer Placeholder 5">
            <a:extLst>
              <a:ext uri="{FF2B5EF4-FFF2-40B4-BE49-F238E27FC236}">
                <a16:creationId xmlns:a16="http://schemas.microsoft.com/office/drawing/2014/main" id="{E2FEBD55-19D8-08EB-848F-F308C1D5B1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1031FA-A0E9-502F-075E-8DCF400D53BC}"/>
              </a:ext>
            </a:extLst>
          </p:cNvPr>
          <p:cNvSpPr>
            <a:spLocks noGrp="1"/>
          </p:cNvSpPr>
          <p:nvPr>
            <p:ph type="sldNum" sz="quarter" idx="12"/>
          </p:nvPr>
        </p:nvSpPr>
        <p:spPr/>
        <p:txBody>
          <a:bodyPr/>
          <a:lstStyle/>
          <a:p>
            <a:fld id="{12FCDD4C-FB44-4947-8E46-CE9B6004AD11}" type="slidenum">
              <a:rPr lang="en-IN" smtClean="0"/>
              <a:t>‹#›</a:t>
            </a:fld>
            <a:endParaRPr lang="en-IN"/>
          </a:p>
        </p:txBody>
      </p:sp>
    </p:spTree>
    <p:extLst>
      <p:ext uri="{BB962C8B-B14F-4D97-AF65-F5344CB8AC3E}">
        <p14:creationId xmlns:p14="http://schemas.microsoft.com/office/powerpoint/2010/main" val="317226737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9A95-3E4C-8920-8B07-A5F99A6CF68A}"/>
              </a:ext>
            </a:extLst>
          </p:cNvPr>
          <p:cNvSpPr>
            <a:spLocks noGrp="1"/>
          </p:cNvSpPr>
          <p:nvPr>
            <p:ph type="title"/>
          </p:nvPr>
        </p:nvSpPr>
        <p:spPr>
          <a:xfrm>
            <a:off x="1007746" y="438150"/>
            <a:ext cx="12618720" cy="1590676"/>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FAF8DB-1A93-D5AB-E271-E4240ABC28B7}"/>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E1C4BDCD-ACA0-D2C2-C296-878D6D4985C5}"/>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7B0D2-D009-6862-7819-0A0580FA5E26}"/>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5C5BD736-3DA0-F67A-C04D-5879BA40A1D8}"/>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6D962E-3241-6A73-E95A-27EA346F4785}"/>
              </a:ext>
            </a:extLst>
          </p:cNvPr>
          <p:cNvSpPr>
            <a:spLocks noGrp="1"/>
          </p:cNvSpPr>
          <p:nvPr>
            <p:ph type="dt" sz="half" idx="10"/>
          </p:nvPr>
        </p:nvSpPr>
        <p:spPr/>
        <p:txBody>
          <a:bodyPr/>
          <a:lstStyle/>
          <a:p>
            <a:fld id="{584794E9-F725-4965-8EFB-A04974ABF593}" type="datetimeFigureOut">
              <a:rPr lang="en-IN" smtClean="0"/>
              <a:t>09-10-2025</a:t>
            </a:fld>
            <a:endParaRPr lang="en-IN"/>
          </a:p>
        </p:txBody>
      </p:sp>
      <p:sp>
        <p:nvSpPr>
          <p:cNvPr id="8" name="Footer Placeholder 7">
            <a:extLst>
              <a:ext uri="{FF2B5EF4-FFF2-40B4-BE49-F238E27FC236}">
                <a16:creationId xmlns:a16="http://schemas.microsoft.com/office/drawing/2014/main" id="{E8679F27-5FAE-DF52-9D2F-D3CAEBD6AA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C6DCAAC-0525-8C8D-46A9-E3BA14F2B18D}"/>
              </a:ext>
            </a:extLst>
          </p:cNvPr>
          <p:cNvSpPr>
            <a:spLocks noGrp="1"/>
          </p:cNvSpPr>
          <p:nvPr>
            <p:ph type="sldNum" sz="quarter" idx="12"/>
          </p:nvPr>
        </p:nvSpPr>
        <p:spPr/>
        <p:txBody>
          <a:bodyPr/>
          <a:lstStyle/>
          <a:p>
            <a:fld id="{12FCDD4C-FB44-4947-8E46-CE9B6004AD11}" type="slidenum">
              <a:rPr lang="en-IN" smtClean="0"/>
              <a:t>‹#›</a:t>
            </a:fld>
            <a:endParaRPr lang="en-IN"/>
          </a:p>
        </p:txBody>
      </p:sp>
    </p:spTree>
    <p:extLst>
      <p:ext uri="{BB962C8B-B14F-4D97-AF65-F5344CB8AC3E}">
        <p14:creationId xmlns:p14="http://schemas.microsoft.com/office/powerpoint/2010/main" val="406424521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863AE-AE92-EDED-1D1A-9C4F6BB3709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4F492D4-9EB7-1B8C-42DD-F632047BE1E8}"/>
              </a:ext>
            </a:extLst>
          </p:cNvPr>
          <p:cNvSpPr>
            <a:spLocks noGrp="1"/>
          </p:cNvSpPr>
          <p:nvPr>
            <p:ph type="dt" sz="half" idx="10"/>
          </p:nvPr>
        </p:nvSpPr>
        <p:spPr/>
        <p:txBody>
          <a:bodyPr/>
          <a:lstStyle/>
          <a:p>
            <a:fld id="{584794E9-F725-4965-8EFB-A04974ABF593}" type="datetimeFigureOut">
              <a:rPr lang="en-IN" smtClean="0"/>
              <a:t>09-10-2025</a:t>
            </a:fld>
            <a:endParaRPr lang="en-IN"/>
          </a:p>
        </p:txBody>
      </p:sp>
      <p:sp>
        <p:nvSpPr>
          <p:cNvPr id="4" name="Footer Placeholder 3">
            <a:extLst>
              <a:ext uri="{FF2B5EF4-FFF2-40B4-BE49-F238E27FC236}">
                <a16:creationId xmlns:a16="http://schemas.microsoft.com/office/drawing/2014/main" id="{5884C84C-9A7C-7058-88BC-12B1F0552E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873B23-CE88-7E1A-2BD7-0B6260FF99A8}"/>
              </a:ext>
            </a:extLst>
          </p:cNvPr>
          <p:cNvSpPr>
            <a:spLocks noGrp="1"/>
          </p:cNvSpPr>
          <p:nvPr>
            <p:ph type="sldNum" sz="quarter" idx="12"/>
          </p:nvPr>
        </p:nvSpPr>
        <p:spPr/>
        <p:txBody>
          <a:bodyPr/>
          <a:lstStyle/>
          <a:p>
            <a:fld id="{12FCDD4C-FB44-4947-8E46-CE9B6004AD11}" type="slidenum">
              <a:rPr lang="en-IN" smtClean="0"/>
              <a:t>‹#›</a:t>
            </a:fld>
            <a:endParaRPr lang="en-IN"/>
          </a:p>
        </p:txBody>
      </p:sp>
    </p:spTree>
    <p:extLst>
      <p:ext uri="{BB962C8B-B14F-4D97-AF65-F5344CB8AC3E}">
        <p14:creationId xmlns:p14="http://schemas.microsoft.com/office/powerpoint/2010/main" val="385464470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469F3E-7D08-2E49-1D55-B19AA372206E}"/>
              </a:ext>
            </a:extLst>
          </p:cNvPr>
          <p:cNvSpPr>
            <a:spLocks noGrp="1"/>
          </p:cNvSpPr>
          <p:nvPr>
            <p:ph type="dt" sz="half" idx="10"/>
          </p:nvPr>
        </p:nvSpPr>
        <p:spPr/>
        <p:txBody>
          <a:bodyPr/>
          <a:lstStyle/>
          <a:p>
            <a:fld id="{584794E9-F725-4965-8EFB-A04974ABF593}" type="datetimeFigureOut">
              <a:rPr lang="en-IN" smtClean="0"/>
              <a:t>09-10-2025</a:t>
            </a:fld>
            <a:endParaRPr lang="en-IN"/>
          </a:p>
        </p:txBody>
      </p:sp>
      <p:sp>
        <p:nvSpPr>
          <p:cNvPr id="3" name="Footer Placeholder 2">
            <a:extLst>
              <a:ext uri="{FF2B5EF4-FFF2-40B4-BE49-F238E27FC236}">
                <a16:creationId xmlns:a16="http://schemas.microsoft.com/office/drawing/2014/main" id="{99EA21EA-C9C8-9A3F-10B8-636149FD3DE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E463225-C420-4A53-E41C-AF4B4DE993BF}"/>
              </a:ext>
            </a:extLst>
          </p:cNvPr>
          <p:cNvSpPr>
            <a:spLocks noGrp="1"/>
          </p:cNvSpPr>
          <p:nvPr>
            <p:ph type="sldNum" sz="quarter" idx="12"/>
          </p:nvPr>
        </p:nvSpPr>
        <p:spPr/>
        <p:txBody>
          <a:bodyPr/>
          <a:lstStyle/>
          <a:p>
            <a:fld id="{12FCDD4C-FB44-4947-8E46-CE9B6004AD11}" type="slidenum">
              <a:rPr lang="en-IN" smtClean="0"/>
              <a:t>‹#›</a:t>
            </a:fld>
            <a:endParaRPr lang="en-IN"/>
          </a:p>
        </p:txBody>
      </p:sp>
    </p:spTree>
    <p:extLst>
      <p:ext uri="{BB962C8B-B14F-4D97-AF65-F5344CB8AC3E}">
        <p14:creationId xmlns:p14="http://schemas.microsoft.com/office/powerpoint/2010/main" val="111105844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0B877-7C26-7471-B1D5-FBD79B09ED6A}"/>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E050B27-7885-DEF1-2398-FA1714B8E56F}"/>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676CC0-F0BE-FAE1-F2BF-AB6F660435D8}"/>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A1FE30A6-C93B-8342-826A-B7C5CA19DBF8}"/>
              </a:ext>
            </a:extLst>
          </p:cNvPr>
          <p:cNvSpPr>
            <a:spLocks noGrp="1"/>
          </p:cNvSpPr>
          <p:nvPr>
            <p:ph type="dt" sz="half" idx="10"/>
          </p:nvPr>
        </p:nvSpPr>
        <p:spPr/>
        <p:txBody>
          <a:bodyPr/>
          <a:lstStyle/>
          <a:p>
            <a:fld id="{584794E9-F725-4965-8EFB-A04974ABF593}" type="datetimeFigureOut">
              <a:rPr lang="en-IN" smtClean="0"/>
              <a:t>09-10-2025</a:t>
            </a:fld>
            <a:endParaRPr lang="en-IN"/>
          </a:p>
        </p:txBody>
      </p:sp>
      <p:sp>
        <p:nvSpPr>
          <p:cNvPr id="6" name="Footer Placeholder 5">
            <a:extLst>
              <a:ext uri="{FF2B5EF4-FFF2-40B4-BE49-F238E27FC236}">
                <a16:creationId xmlns:a16="http://schemas.microsoft.com/office/drawing/2014/main" id="{6A3AE7F1-C636-D2CA-77EC-B8A5B81AE4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2623EB-3D48-6DDB-048E-6FEB44CAFAB8}"/>
              </a:ext>
            </a:extLst>
          </p:cNvPr>
          <p:cNvSpPr>
            <a:spLocks noGrp="1"/>
          </p:cNvSpPr>
          <p:nvPr>
            <p:ph type="sldNum" sz="quarter" idx="12"/>
          </p:nvPr>
        </p:nvSpPr>
        <p:spPr/>
        <p:txBody>
          <a:bodyPr/>
          <a:lstStyle/>
          <a:p>
            <a:fld id="{12FCDD4C-FB44-4947-8E46-CE9B6004AD11}" type="slidenum">
              <a:rPr lang="en-IN" smtClean="0"/>
              <a:t>‹#›</a:t>
            </a:fld>
            <a:endParaRPr lang="en-IN"/>
          </a:p>
        </p:txBody>
      </p:sp>
    </p:spTree>
    <p:extLst>
      <p:ext uri="{BB962C8B-B14F-4D97-AF65-F5344CB8AC3E}">
        <p14:creationId xmlns:p14="http://schemas.microsoft.com/office/powerpoint/2010/main" val="255592473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A6C56-BE17-6CF1-3BC5-40D74F44500B}"/>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E2EEF6-71B1-78FB-F99A-A45B47DD52FE}"/>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IN"/>
          </a:p>
        </p:txBody>
      </p:sp>
      <p:sp>
        <p:nvSpPr>
          <p:cNvPr id="4" name="Text Placeholder 3">
            <a:extLst>
              <a:ext uri="{FF2B5EF4-FFF2-40B4-BE49-F238E27FC236}">
                <a16:creationId xmlns:a16="http://schemas.microsoft.com/office/drawing/2014/main" id="{155F1656-20FD-16F3-D41D-89324780E8DA}"/>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8939F130-B7E8-28D4-081C-D814304B5CCD}"/>
              </a:ext>
            </a:extLst>
          </p:cNvPr>
          <p:cNvSpPr>
            <a:spLocks noGrp="1"/>
          </p:cNvSpPr>
          <p:nvPr>
            <p:ph type="dt" sz="half" idx="10"/>
          </p:nvPr>
        </p:nvSpPr>
        <p:spPr/>
        <p:txBody>
          <a:bodyPr/>
          <a:lstStyle/>
          <a:p>
            <a:fld id="{584794E9-F725-4965-8EFB-A04974ABF593}" type="datetimeFigureOut">
              <a:rPr lang="en-IN" smtClean="0"/>
              <a:t>09-10-2025</a:t>
            </a:fld>
            <a:endParaRPr lang="en-IN"/>
          </a:p>
        </p:txBody>
      </p:sp>
      <p:sp>
        <p:nvSpPr>
          <p:cNvPr id="6" name="Footer Placeholder 5">
            <a:extLst>
              <a:ext uri="{FF2B5EF4-FFF2-40B4-BE49-F238E27FC236}">
                <a16:creationId xmlns:a16="http://schemas.microsoft.com/office/drawing/2014/main" id="{E3A8A59F-EC51-BF7D-0BBE-81D25CA46A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8F5ABD-8DE4-8A23-C51F-A224CAEE09C6}"/>
              </a:ext>
            </a:extLst>
          </p:cNvPr>
          <p:cNvSpPr>
            <a:spLocks noGrp="1"/>
          </p:cNvSpPr>
          <p:nvPr>
            <p:ph type="sldNum" sz="quarter" idx="12"/>
          </p:nvPr>
        </p:nvSpPr>
        <p:spPr/>
        <p:txBody>
          <a:bodyPr/>
          <a:lstStyle/>
          <a:p>
            <a:fld id="{12FCDD4C-FB44-4947-8E46-CE9B6004AD11}" type="slidenum">
              <a:rPr lang="en-IN" smtClean="0"/>
              <a:t>‹#›</a:t>
            </a:fld>
            <a:endParaRPr lang="en-IN"/>
          </a:p>
        </p:txBody>
      </p:sp>
    </p:spTree>
    <p:extLst>
      <p:ext uri="{BB962C8B-B14F-4D97-AF65-F5344CB8AC3E}">
        <p14:creationId xmlns:p14="http://schemas.microsoft.com/office/powerpoint/2010/main" val="51367311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084B0-38E3-BCB7-473F-A5948308F1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613909-9E81-C2E3-C264-627AAB528C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D0E2D5-D7DE-7C23-FE60-3FA0D2C2D7E0}"/>
              </a:ext>
            </a:extLst>
          </p:cNvPr>
          <p:cNvSpPr>
            <a:spLocks noGrp="1"/>
          </p:cNvSpPr>
          <p:nvPr>
            <p:ph type="dt" sz="half" idx="10"/>
          </p:nvPr>
        </p:nvSpPr>
        <p:spPr/>
        <p:txBody>
          <a:bodyPr/>
          <a:lstStyle/>
          <a:p>
            <a:fld id="{584794E9-F725-4965-8EFB-A04974ABF593}" type="datetimeFigureOut">
              <a:rPr lang="en-IN" smtClean="0"/>
              <a:t>09-10-2025</a:t>
            </a:fld>
            <a:endParaRPr lang="en-IN"/>
          </a:p>
        </p:txBody>
      </p:sp>
      <p:sp>
        <p:nvSpPr>
          <p:cNvPr id="5" name="Footer Placeholder 4">
            <a:extLst>
              <a:ext uri="{FF2B5EF4-FFF2-40B4-BE49-F238E27FC236}">
                <a16:creationId xmlns:a16="http://schemas.microsoft.com/office/drawing/2014/main" id="{89815BA6-3930-77C6-B48B-91A3ED56E3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D1E030-D586-4E5F-0FB1-E1520DC66B44}"/>
              </a:ext>
            </a:extLst>
          </p:cNvPr>
          <p:cNvSpPr>
            <a:spLocks noGrp="1"/>
          </p:cNvSpPr>
          <p:nvPr>
            <p:ph type="sldNum" sz="quarter" idx="12"/>
          </p:nvPr>
        </p:nvSpPr>
        <p:spPr/>
        <p:txBody>
          <a:bodyPr/>
          <a:lstStyle/>
          <a:p>
            <a:fld id="{12FCDD4C-FB44-4947-8E46-CE9B6004AD11}" type="slidenum">
              <a:rPr lang="en-IN" smtClean="0"/>
              <a:t>‹#›</a:t>
            </a:fld>
            <a:endParaRPr lang="en-IN"/>
          </a:p>
        </p:txBody>
      </p:sp>
    </p:spTree>
    <p:extLst>
      <p:ext uri="{BB962C8B-B14F-4D97-AF65-F5344CB8AC3E}">
        <p14:creationId xmlns:p14="http://schemas.microsoft.com/office/powerpoint/2010/main" val="135610084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BAC038-A2B2-FF14-0B4C-7A7E27F47002}"/>
              </a:ext>
            </a:extLst>
          </p:cNvPr>
          <p:cNvSpPr>
            <a:spLocks noGrp="1"/>
          </p:cNvSpPr>
          <p:nvPr>
            <p:ph type="title" orient="vert"/>
          </p:nvPr>
        </p:nvSpPr>
        <p:spPr>
          <a:xfrm>
            <a:off x="10469880" y="438150"/>
            <a:ext cx="3154680" cy="6974206"/>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A28EF7-9892-1C59-F745-8960EFC0F043}"/>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AE04BB-A6C3-9B58-EB67-A8E56C6DF2A8}"/>
              </a:ext>
            </a:extLst>
          </p:cNvPr>
          <p:cNvSpPr>
            <a:spLocks noGrp="1"/>
          </p:cNvSpPr>
          <p:nvPr>
            <p:ph type="dt" sz="half" idx="10"/>
          </p:nvPr>
        </p:nvSpPr>
        <p:spPr/>
        <p:txBody>
          <a:bodyPr/>
          <a:lstStyle/>
          <a:p>
            <a:fld id="{584794E9-F725-4965-8EFB-A04974ABF593}" type="datetimeFigureOut">
              <a:rPr lang="en-IN" smtClean="0"/>
              <a:t>09-10-2025</a:t>
            </a:fld>
            <a:endParaRPr lang="en-IN"/>
          </a:p>
        </p:txBody>
      </p:sp>
      <p:sp>
        <p:nvSpPr>
          <p:cNvPr id="5" name="Footer Placeholder 4">
            <a:extLst>
              <a:ext uri="{FF2B5EF4-FFF2-40B4-BE49-F238E27FC236}">
                <a16:creationId xmlns:a16="http://schemas.microsoft.com/office/drawing/2014/main" id="{3123DEE5-B8EE-CD33-1D5C-691ADEAFCD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5AEC40-763D-018D-A019-26D78BCE6357}"/>
              </a:ext>
            </a:extLst>
          </p:cNvPr>
          <p:cNvSpPr>
            <a:spLocks noGrp="1"/>
          </p:cNvSpPr>
          <p:nvPr>
            <p:ph type="sldNum" sz="quarter" idx="12"/>
          </p:nvPr>
        </p:nvSpPr>
        <p:spPr/>
        <p:txBody>
          <a:bodyPr/>
          <a:lstStyle/>
          <a:p>
            <a:fld id="{12FCDD4C-FB44-4947-8E46-CE9B6004AD11}" type="slidenum">
              <a:rPr lang="en-IN" smtClean="0"/>
              <a:t>‹#›</a:t>
            </a:fld>
            <a:endParaRPr lang="en-IN"/>
          </a:p>
        </p:txBody>
      </p:sp>
    </p:spTree>
    <p:extLst>
      <p:ext uri="{BB962C8B-B14F-4D97-AF65-F5344CB8AC3E}">
        <p14:creationId xmlns:p14="http://schemas.microsoft.com/office/powerpoint/2010/main" val="12318155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60972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3122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54759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96551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972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0385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90162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7678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184181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1641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C7A5F2-E979-5A32-39C1-E11AD6EBD21D}"/>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CBB8BA-793F-9AFF-EE31-9E9B845780FA}"/>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952947-C69E-03B6-9C5D-59E1782C837E}"/>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fld id="{584794E9-F725-4965-8EFB-A04974ABF593}" type="datetimeFigureOut">
              <a:rPr lang="en-IN" smtClean="0"/>
              <a:t>09-10-2025</a:t>
            </a:fld>
            <a:endParaRPr lang="en-IN"/>
          </a:p>
        </p:txBody>
      </p:sp>
      <p:sp>
        <p:nvSpPr>
          <p:cNvPr id="5" name="Footer Placeholder 4">
            <a:extLst>
              <a:ext uri="{FF2B5EF4-FFF2-40B4-BE49-F238E27FC236}">
                <a16:creationId xmlns:a16="http://schemas.microsoft.com/office/drawing/2014/main" id="{783498B6-939A-AE89-4ED6-0CDC19486C20}"/>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99F02A2-53EF-F1A3-BB8D-B12541A33DA4}"/>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12FCDD4C-FB44-4947-8E46-CE9B6004AD11}" type="slidenum">
              <a:rPr lang="en-IN" smtClean="0"/>
              <a:t>‹#›</a:t>
            </a:fld>
            <a:endParaRPr lang="en-IN"/>
          </a:p>
        </p:txBody>
      </p:sp>
    </p:spTree>
    <p:extLst>
      <p:ext uri="{BB962C8B-B14F-4D97-AF65-F5344CB8AC3E}">
        <p14:creationId xmlns:p14="http://schemas.microsoft.com/office/powerpoint/2010/main" val="34466089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2031683"/>
            <a:ext cx="7468553" cy="2119670"/>
          </a:xfrm>
          <a:prstGeom prst="rect">
            <a:avLst/>
          </a:prstGeom>
          <a:noFill/>
          <a:ln/>
        </p:spPr>
        <p:txBody>
          <a:bodyPr wrap="square" lIns="0" tIns="0" rIns="0" bIns="0" rtlCol="0" anchor="t"/>
          <a:lstStyle/>
          <a:p>
            <a:pPr marL="0" indent="0" algn="l">
              <a:lnSpc>
                <a:spcPts val="5500"/>
              </a:lnSpc>
              <a:buNone/>
            </a:pPr>
            <a:r>
              <a:rPr lang="en-US" sz="4400" dirty="0">
                <a:solidFill>
                  <a:srgbClr val="000000"/>
                </a:solidFill>
                <a:latin typeface="Source Serif 4 Semi Bold" pitchFamily="34" charset="0"/>
                <a:ea typeface="Source Serif 4 Semi Bold" pitchFamily="34" charset="-122"/>
                <a:cs typeface="Source Serif 4 Semi Bold" pitchFamily="34" charset="-120"/>
              </a:rPr>
              <a:t>🛍️</a:t>
            </a:r>
            <a:r>
              <a:rPr lang="en-US" sz="4400" dirty="0">
                <a:solidFill>
                  <a:srgbClr val="D73AD7"/>
                </a:solidFill>
                <a:latin typeface="Source Serif 4 Semi Bold" pitchFamily="34" charset="0"/>
                <a:ea typeface="Source Serif 4 Semi Bold" pitchFamily="34" charset="-122"/>
                <a:cs typeface="Source Serif 4 Semi Bold" pitchFamily="34" charset="-120"/>
              </a:rPr>
              <a:t> Myntra E-commerce Product Analysis – SQL Project Report</a:t>
            </a:r>
            <a:endParaRPr lang="en-US" sz="4400" dirty="0"/>
          </a:p>
        </p:txBody>
      </p:sp>
      <p:sp>
        <p:nvSpPr>
          <p:cNvPr id="4" name="Text 1"/>
          <p:cNvSpPr/>
          <p:nvPr/>
        </p:nvSpPr>
        <p:spPr>
          <a:xfrm>
            <a:off x="6324124" y="4510326"/>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Name: Supriyo Maity</a:t>
            </a:r>
            <a:endParaRPr lang="en-US" sz="1850" dirty="0"/>
          </a:p>
        </p:txBody>
      </p:sp>
      <p:sp>
        <p:nvSpPr>
          <p:cNvPr id="5" name="Text 2"/>
          <p:cNvSpPr/>
          <p:nvPr/>
        </p:nvSpPr>
        <p:spPr>
          <a:xfrm>
            <a:off x="6324124" y="5162550"/>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Environment: MySQL Workbench</a:t>
            </a:r>
            <a:endParaRPr lang="en-US" sz="1850" dirty="0"/>
          </a:p>
        </p:txBody>
      </p:sp>
      <p:sp>
        <p:nvSpPr>
          <p:cNvPr id="6" name="Text 3"/>
          <p:cNvSpPr/>
          <p:nvPr/>
        </p:nvSpPr>
        <p:spPr>
          <a:xfrm>
            <a:off x="6324124" y="5814774"/>
            <a:ext cx="7468553" cy="383024"/>
          </a:xfrm>
          <a:prstGeom prst="rect">
            <a:avLst/>
          </a:prstGeom>
          <a:noFill/>
          <a:ln/>
        </p:spPr>
        <p:txBody>
          <a:bodyPr wrap="none" lIns="0" tIns="0" rIns="0" bIns="0" rtlCol="0" anchor="t"/>
          <a:lstStyle/>
          <a:p>
            <a:pPr>
              <a:lnSpc>
                <a:spcPts val="3000"/>
              </a:lnSpc>
            </a:pPr>
            <a:r>
              <a:rPr lang="en-US" sz="1850" dirty="0">
                <a:solidFill>
                  <a:srgbClr val="272525"/>
                </a:solidFill>
                <a:latin typeface="Source Sans 3" pitchFamily="34" charset="0"/>
                <a:ea typeface="Source Sans 3" pitchFamily="34" charset="-122"/>
                <a:cs typeface="Source Sans 3" pitchFamily="34" charset="-120"/>
              </a:rPr>
              <a:t>Database: Myntra dataset from kaggle.com</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991433"/>
            <a:ext cx="6115050" cy="71163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4 Semi Bold" pitchFamily="34" charset="0"/>
                <a:ea typeface="Source Serif 4 Semi Bold" pitchFamily="34" charset="-122"/>
                <a:cs typeface="Source Serif 4 Semi Bold" pitchFamily="34" charset="-120"/>
              </a:rPr>
              <a:t>📘</a:t>
            </a:r>
            <a:r>
              <a:rPr lang="en-US" sz="4400" dirty="0">
                <a:solidFill>
                  <a:srgbClr val="D73AD7"/>
                </a:solidFill>
                <a:latin typeface="Source Serif 4 Semi Bold" pitchFamily="34" charset="0"/>
                <a:ea typeface="Source Serif 4 Semi Bold" pitchFamily="34" charset="-122"/>
                <a:cs typeface="Source Serif 4 Semi Bold" pitchFamily="34" charset="-120"/>
              </a:rPr>
              <a:t> 1. Project Overview</a:t>
            </a:r>
            <a:endParaRPr lang="en-US" sz="4400" dirty="0"/>
          </a:p>
        </p:txBody>
      </p:sp>
      <p:sp>
        <p:nvSpPr>
          <p:cNvPr id="3" name="Text 1"/>
          <p:cNvSpPr/>
          <p:nvPr/>
        </p:nvSpPr>
        <p:spPr>
          <a:xfrm>
            <a:off x="837724" y="2181820"/>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This project focuses on analyzing product data from Myntra, one of India’s largest online fashion marketplaces. The goal is to gain insights into brand performance, pricing strategy, discounts, and customer ratings using SQL queries.</a:t>
            </a:r>
            <a:endParaRPr lang="en-US" sz="1850" dirty="0"/>
          </a:p>
        </p:txBody>
      </p:sp>
      <p:sp>
        <p:nvSpPr>
          <p:cNvPr id="4" name="Text 2"/>
          <p:cNvSpPr/>
          <p:nvPr/>
        </p:nvSpPr>
        <p:spPr>
          <a:xfrm>
            <a:off x="837724" y="3217069"/>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The dataset (project_myntra) includes key product attributes such as:</a:t>
            </a:r>
            <a:endParaRPr lang="en-US" sz="1850" dirty="0"/>
          </a:p>
        </p:txBody>
      </p:sp>
      <p:sp>
        <p:nvSpPr>
          <p:cNvPr id="5" name="Text 3"/>
          <p:cNvSpPr/>
          <p:nvPr/>
        </p:nvSpPr>
        <p:spPr>
          <a:xfrm>
            <a:off x="837724" y="3869293"/>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272525"/>
                </a:solidFill>
                <a:latin typeface="Source Sans 3" pitchFamily="34" charset="0"/>
                <a:ea typeface="Source Sans 3" pitchFamily="34" charset="-122"/>
                <a:cs typeface="Source Sans 3" pitchFamily="34" charset="-120"/>
              </a:rPr>
              <a:t>Brand Name</a:t>
            </a:r>
            <a:endParaRPr lang="en-US" sz="1850" dirty="0"/>
          </a:p>
        </p:txBody>
      </p:sp>
      <p:sp>
        <p:nvSpPr>
          <p:cNvPr id="6" name="Text 4"/>
          <p:cNvSpPr/>
          <p:nvPr/>
        </p:nvSpPr>
        <p:spPr>
          <a:xfrm>
            <a:off x="837724" y="4336018"/>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272525"/>
                </a:solidFill>
                <a:latin typeface="Source Sans 3" pitchFamily="34" charset="0"/>
                <a:ea typeface="Source Sans 3" pitchFamily="34" charset="-122"/>
                <a:cs typeface="Source Sans 3" pitchFamily="34" charset="-120"/>
              </a:rPr>
              <a:t>Product Description</a:t>
            </a:r>
            <a:endParaRPr lang="en-US" sz="1850" dirty="0"/>
          </a:p>
        </p:txBody>
      </p:sp>
      <p:sp>
        <p:nvSpPr>
          <p:cNvPr id="7" name="Text 5"/>
          <p:cNvSpPr/>
          <p:nvPr/>
        </p:nvSpPr>
        <p:spPr>
          <a:xfrm>
            <a:off x="837724" y="4802743"/>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272525"/>
                </a:solidFill>
                <a:latin typeface="Source Sans 3" pitchFamily="34" charset="0"/>
                <a:ea typeface="Source Sans 3" pitchFamily="34" charset="-122"/>
                <a:cs typeface="Source Sans 3" pitchFamily="34" charset="-120"/>
              </a:rPr>
              <a:t>Price &amp; MRP</a:t>
            </a:r>
            <a:endParaRPr lang="en-US" sz="1850" dirty="0"/>
          </a:p>
        </p:txBody>
      </p:sp>
      <p:sp>
        <p:nvSpPr>
          <p:cNvPr id="8" name="Text 6"/>
          <p:cNvSpPr/>
          <p:nvPr/>
        </p:nvSpPr>
        <p:spPr>
          <a:xfrm>
            <a:off x="837724" y="5269468"/>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272525"/>
                </a:solidFill>
                <a:latin typeface="Source Sans 3" pitchFamily="34" charset="0"/>
                <a:ea typeface="Source Sans 3" pitchFamily="34" charset="-122"/>
                <a:cs typeface="Source Sans 3" pitchFamily="34" charset="-120"/>
              </a:rPr>
              <a:t>Discount Percentage</a:t>
            </a:r>
            <a:endParaRPr lang="en-US" sz="1850" dirty="0"/>
          </a:p>
        </p:txBody>
      </p:sp>
      <p:sp>
        <p:nvSpPr>
          <p:cNvPr id="9" name="Text 7"/>
          <p:cNvSpPr/>
          <p:nvPr/>
        </p:nvSpPr>
        <p:spPr>
          <a:xfrm>
            <a:off x="837724" y="5736193"/>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272525"/>
                </a:solidFill>
                <a:latin typeface="Source Sans 3" pitchFamily="34" charset="0"/>
                <a:ea typeface="Source Sans 3" pitchFamily="34" charset="-122"/>
                <a:cs typeface="Source Sans 3" pitchFamily="34" charset="-120"/>
              </a:rPr>
              <a:t>Ratings</a:t>
            </a:r>
            <a:endParaRPr lang="en-US" sz="1850" dirty="0"/>
          </a:p>
        </p:txBody>
      </p:sp>
      <p:sp>
        <p:nvSpPr>
          <p:cNvPr id="10" name="Text 8"/>
          <p:cNvSpPr/>
          <p:nvPr/>
        </p:nvSpPr>
        <p:spPr>
          <a:xfrm>
            <a:off x="837724" y="6202918"/>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272525"/>
                </a:solidFill>
                <a:latin typeface="Source Sans 3" pitchFamily="34" charset="0"/>
                <a:ea typeface="Source Sans 3" pitchFamily="34" charset="-122"/>
                <a:cs typeface="Source Sans 3" pitchFamily="34" charset="-120"/>
              </a:rPr>
              <a:t>Number of Ratings</a:t>
            </a:r>
            <a:endParaRPr lang="en-US" sz="1850" dirty="0"/>
          </a:p>
        </p:txBody>
      </p:sp>
      <p:sp>
        <p:nvSpPr>
          <p:cNvPr id="11" name="Text 9"/>
          <p:cNvSpPr/>
          <p:nvPr/>
        </p:nvSpPr>
        <p:spPr>
          <a:xfrm>
            <a:off x="837724" y="6855143"/>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272525"/>
                </a:solidFill>
                <a:latin typeface="Source Sans 3" pitchFamily="34" charset="0"/>
                <a:ea typeface="Source Sans 3" pitchFamily="34" charset="-122"/>
                <a:cs typeface="Source Sans 3" pitchFamily="34" charset="-120"/>
              </a:rPr>
              <a:t>Through SQL analysis, we explore brand performance, customer engagement, and discount trends.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696158"/>
            <a:ext cx="5871448" cy="676394"/>
          </a:xfrm>
          <a:prstGeom prst="rect">
            <a:avLst/>
          </a:prstGeom>
          <a:noFill/>
          <a:ln/>
        </p:spPr>
        <p:txBody>
          <a:bodyPr wrap="none" lIns="0" tIns="0" rIns="0" bIns="0" rtlCol="0" anchor="t"/>
          <a:lstStyle/>
          <a:p>
            <a:pPr marL="0" indent="0" algn="l">
              <a:lnSpc>
                <a:spcPts val="5250"/>
              </a:lnSpc>
              <a:buNone/>
            </a:pPr>
            <a:r>
              <a:rPr lang="en-US" sz="4200" dirty="0">
                <a:solidFill>
                  <a:srgbClr val="000000"/>
                </a:solidFill>
                <a:latin typeface="Source Serif 4 Semi Bold" pitchFamily="34" charset="0"/>
                <a:ea typeface="Source Serif 4 Semi Bold" pitchFamily="34" charset="-122"/>
                <a:cs typeface="Source Serif 4 Semi Bold" pitchFamily="34" charset="-120"/>
              </a:rPr>
              <a:t>🧱</a:t>
            </a:r>
            <a:r>
              <a:rPr lang="en-US" sz="4200" dirty="0">
                <a:solidFill>
                  <a:srgbClr val="D73AD7"/>
                </a:solidFill>
                <a:latin typeface="Source Serif 4 Semi Bold" pitchFamily="34" charset="0"/>
                <a:ea typeface="Source Serif 4 Semi Bold" pitchFamily="34" charset="-122"/>
                <a:cs typeface="Source Serif 4 Semi Bold" pitchFamily="34" charset="-120"/>
              </a:rPr>
              <a:t> 2. Database Schema</a:t>
            </a:r>
            <a:endParaRPr lang="en-US" sz="4200" dirty="0"/>
          </a:p>
        </p:txBody>
      </p:sp>
      <p:sp>
        <p:nvSpPr>
          <p:cNvPr id="3" name="Shape 1"/>
          <p:cNvSpPr/>
          <p:nvPr/>
        </p:nvSpPr>
        <p:spPr>
          <a:xfrm>
            <a:off x="837724" y="1827371"/>
            <a:ext cx="12954952" cy="5071110"/>
          </a:xfrm>
          <a:prstGeom prst="roundRect">
            <a:avLst>
              <a:gd name="adj" fmla="val 1883"/>
            </a:avLst>
          </a:prstGeom>
          <a:solidFill>
            <a:srgbClr val="F2F2F2"/>
          </a:solidFill>
          <a:ln/>
        </p:spPr>
        <p:txBody>
          <a:bodyPr/>
          <a:lstStyle/>
          <a:p>
            <a:endParaRPr lang="en-IN"/>
          </a:p>
        </p:txBody>
      </p:sp>
      <p:sp>
        <p:nvSpPr>
          <p:cNvPr id="4" name="Shape 2"/>
          <p:cNvSpPr/>
          <p:nvPr/>
        </p:nvSpPr>
        <p:spPr>
          <a:xfrm>
            <a:off x="826413" y="1827371"/>
            <a:ext cx="12977574" cy="5071110"/>
          </a:xfrm>
          <a:prstGeom prst="roundRect">
            <a:avLst>
              <a:gd name="adj" fmla="val 673"/>
            </a:avLst>
          </a:prstGeom>
          <a:solidFill>
            <a:srgbClr val="F2F2F2"/>
          </a:solidFill>
          <a:ln/>
        </p:spPr>
        <p:txBody>
          <a:bodyPr/>
          <a:lstStyle/>
          <a:p>
            <a:endParaRPr lang="en-IN" dirty="0"/>
          </a:p>
        </p:txBody>
      </p:sp>
      <p:sp>
        <p:nvSpPr>
          <p:cNvPr id="5" name="Text 3"/>
          <p:cNvSpPr/>
          <p:nvPr/>
        </p:nvSpPr>
        <p:spPr>
          <a:xfrm>
            <a:off x="1053822" y="1997869"/>
            <a:ext cx="12522756" cy="4730115"/>
          </a:xfrm>
          <a:prstGeom prst="rect">
            <a:avLst/>
          </a:prstGeom>
          <a:noFill/>
          <a:ln/>
        </p:spPr>
        <p:txBody>
          <a:bodyPr wrap="square" lIns="0" tIns="0" rIns="0" bIns="0" rtlCol="0" anchor="t"/>
          <a:lstStyle/>
          <a:p>
            <a:r>
              <a:rPr lang="en-IN" sz="2400" dirty="0">
                <a:highlight>
                  <a:srgbClr val="F2F2F2"/>
                </a:highlight>
              </a:rPr>
              <a:t>CREATE DATABASE myntra;</a:t>
            </a:r>
          </a:p>
          <a:p>
            <a:r>
              <a:rPr lang="en-IN" sz="2400" dirty="0">
                <a:highlight>
                  <a:srgbClr val="F2F2F2"/>
                </a:highlight>
              </a:rPr>
              <a:t>USE myntra;</a:t>
            </a:r>
          </a:p>
          <a:p>
            <a:endParaRPr lang="en-IN" sz="2400" dirty="0">
              <a:highlight>
                <a:srgbClr val="F2F2F2"/>
              </a:highlight>
            </a:endParaRPr>
          </a:p>
          <a:p>
            <a:r>
              <a:rPr lang="en-IN" sz="2400" dirty="0">
                <a:highlight>
                  <a:srgbClr val="F2F2F2"/>
                </a:highlight>
              </a:rPr>
              <a:t>CREATE TABLE project_myntra (</a:t>
            </a:r>
          </a:p>
          <a:p>
            <a:r>
              <a:rPr lang="en-IN" sz="2400" dirty="0">
                <a:highlight>
                  <a:srgbClr val="F2F2F2"/>
                </a:highlight>
              </a:rPr>
              <a:t>    id SERIAL PRIMARY KEY,</a:t>
            </a:r>
          </a:p>
          <a:p>
            <a:r>
              <a:rPr lang="en-IN" sz="2400" dirty="0">
                <a:highlight>
                  <a:srgbClr val="F2F2F2"/>
                </a:highlight>
              </a:rPr>
              <a:t>    </a:t>
            </a:r>
            <a:r>
              <a:rPr lang="en-IN" sz="2400" dirty="0" err="1">
                <a:highlight>
                  <a:srgbClr val="F2F2F2"/>
                </a:highlight>
              </a:rPr>
              <a:t>brand_name</a:t>
            </a:r>
            <a:r>
              <a:rPr lang="en-IN" sz="2400" dirty="0">
                <a:highlight>
                  <a:srgbClr val="F2F2F2"/>
                </a:highlight>
              </a:rPr>
              <a:t> VARCHAR(255) NOT NULL,</a:t>
            </a:r>
          </a:p>
          <a:p>
            <a:r>
              <a:rPr lang="en-IN" sz="2400" dirty="0">
                <a:highlight>
                  <a:srgbClr val="F2F2F2"/>
                </a:highlight>
              </a:rPr>
              <a:t>    </a:t>
            </a:r>
            <a:r>
              <a:rPr lang="en-IN" sz="2400" dirty="0" err="1">
                <a:highlight>
                  <a:srgbClr val="F2F2F2"/>
                </a:highlight>
              </a:rPr>
              <a:t>pants_description</a:t>
            </a:r>
            <a:r>
              <a:rPr lang="en-IN" sz="2400" dirty="0">
                <a:highlight>
                  <a:srgbClr val="F2F2F2"/>
                </a:highlight>
              </a:rPr>
              <a:t> TEXT,</a:t>
            </a:r>
          </a:p>
          <a:p>
            <a:r>
              <a:rPr lang="en-IN" sz="2400" dirty="0">
                <a:highlight>
                  <a:srgbClr val="F2F2F2"/>
                </a:highlight>
              </a:rPr>
              <a:t>    price DECIMAL(10,2),</a:t>
            </a:r>
          </a:p>
          <a:p>
            <a:r>
              <a:rPr lang="en-IN" sz="2400" dirty="0">
                <a:highlight>
                  <a:srgbClr val="F2F2F2"/>
                </a:highlight>
              </a:rPr>
              <a:t>    MRP DECIMAL(10,2),</a:t>
            </a:r>
          </a:p>
          <a:p>
            <a:r>
              <a:rPr lang="en-IN" sz="2400" dirty="0">
                <a:highlight>
                  <a:srgbClr val="F2F2F2"/>
                </a:highlight>
              </a:rPr>
              <a:t>    </a:t>
            </a:r>
            <a:r>
              <a:rPr lang="en-IN" sz="2400" dirty="0" err="1">
                <a:highlight>
                  <a:srgbClr val="F2F2F2"/>
                </a:highlight>
              </a:rPr>
              <a:t>discount_percent</a:t>
            </a:r>
            <a:r>
              <a:rPr lang="en-IN" sz="2400" dirty="0">
                <a:highlight>
                  <a:srgbClr val="F2F2F2"/>
                </a:highlight>
              </a:rPr>
              <a:t> DECIMAL(5,4),</a:t>
            </a:r>
          </a:p>
          <a:p>
            <a:r>
              <a:rPr lang="en-IN" sz="2400" dirty="0">
                <a:highlight>
                  <a:srgbClr val="F2F2F2"/>
                </a:highlight>
              </a:rPr>
              <a:t>    ratings DECIMAL(3,2),</a:t>
            </a:r>
          </a:p>
          <a:p>
            <a:r>
              <a:rPr lang="en-IN" sz="2400" dirty="0">
                <a:highlight>
                  <a:srgbClr val="F2F2F2"/>
                </a:highlight>
              </a:rPr>
              <a:t>    </a:t>
            </a:r>
            <a:r>
              <a:rPr lang="en-IN" sz="2400" dirty="0" err="1">
                <a:highlight>
                  <a:srgbClr val="F2F2F2"/>
                </a:highlight>
              </a:rPr>
              <a:t>number_of_ratings</a:t>
            </a:r>
            <a:r>
              <a:rPr lang="en-IN" sz="2400" dirty="0">
                <a:highlight>
                  <a:srgbClr val="F2F2F2"/>
                </a:highlight>
              </a:rPr>
              <a:t> INTEGER</a:t>
            </a:r>
          </a:p>
          <a:p>
            <a:r>
              <a:rPr lang="en-IN" sz="2400" dirty="0">
                <a:highlight>
                  <a:srgbClr val="F2F2F2"/>
                </a:highlight>
              </a:rPr>
              <a:t>);</a:t>
            </a:r>
          </a:p>
        </p:txBody>
      </p:sp>
      <p:sp>
        <p:nvSpPr>
          <p:cNvPr id="6" name="Text 4"/>
          <p:cNvSpPr/>
          <p:nvPr/>
        </p:nvSpPr>
        <p:spPr>
          <a:xfrm>
            <a:off x="837724" y="7154227"/>
            <a:ext cx="12954952" cy="379095"/>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Source Sans 3" pitchFamily="34" charset="0"/>
                <a:ea typeface="Source Sans 3" pitchFamily="34" charset="-122"/>
                <a:cs typeface="Source Sans 3" pitchFamily="34" charset="-120"/>
              </a:rPr>
              <a:t>This schema defines the structure of the </a:t>
            </a:r>
            <a:r>
              <a:rPr lang="en-US" sz="1750" dirty="0">
                <a:solidFill>
                  <a:srgbClr val="272525"/>
                </a:solidFill>
                <a:highlight>
                  <a:srgbClr val="F2F2F2"/>
                </a:highlight>
                <a:latin typeface="Consolas" pitchFamily="34" charset="0"/>
                <a:ea typeface="Consolas" pitchFamily="34" charset="-122"/>
                <a:cs typeface="Consolas" pitchFamily="34" charset="-120"/>
              </a:rPr>
              <a:t>project_myntra</a:t>
            </a:r>
            <a:r>
              <a:rPr lang="en-US" sz="1750" dirty="0">
                <a:solidFill>
                  <a:srgbClr val="272525"/>
                </a:solidFill>
                <a:latin typeface="Source Sans 3" pitchFamily="34" charset="0"/>
                <a:ea typeface="Source Sans 3" pitchFamily="34" charset="-122"/>
                <a:cs typeface="Source Sans 3" pitchFamily="34" charset="-120"/>
              </a:rPr>
              <a:t> table, capturing essential product details for analysis.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82002" y="617815"/>
            <a:ext cx="4112538" cy="427077"/>
          </a:xfrm>
          <a:prstGeom prst="rect">
            <a:avLst/>
          </a:prstGeom>
          <a:noFill/>
          <a:ln/>
        </p:spPr>
        <p:txBody>
          <a:bodyPr wrap="none" lIns="0" tIns="0" rIns="0" bIns="0" rtlCol="0" anchor="t"/>
          <a:lstStyle/>
          <a:p>
            <a:pPr marL="0" indent="0" algn="l">
              <a:lnSpc>
                <a:spcPts val="3350"/>
              </a:lnSpc>
              <a:buNone/>
            </a:pPr>
            <a:r>
              <a:rPr lang="en-US" sz="2650" dirty="0">
                <a:solidFill>
                  <a:srgbClr val="000000"/>
                </a:solidFill>
                <a:latin typeface="Source Serif 4 Semi Bold" pitchFamily="34" charset="0"/>
                <a:ea typeface="Source Serif 4 Semi Bold" pitchFamily="34" charset="-122"/>
                <a:cs typeface="Source Serif 4 Semi Bold" pitchFamily="34" charset="-120"/>
              </a:rPr>
              <a:t>📊</a:t>
            </a:r>
            <a:r>
              <a:rPr lang="en-US" sz="2650" dirty="0">
                <a:solidFill>
                  <a:srgbClr val="D73AD7"/>
                </a:solidFill>
                <a:latin typeface="Source Serif 4 Semi Bold" pitchFamily="34" charset="0"/>
                <a:ea typeface="Source Serif 4 Semi Bold" pitchFamily="34" charset="-122"/>
                <a:cs typeface="Source Serif 4 Semi Bold" pitchFamily="34" charset="-120"/>
              </a:rPr>
              <a:t> 3. Business Objectives</a:t>
            </a:r>
            <a:endParaRPr lang="en-US" sz="2650" dirty="0"/>
          </a:p>
        </p:txBody>
      </p:sp>
      <p:sp>
        <p:nvSpPr>
          <p:cNvPr id="3" name="Text 1"/>
          <p:cNvSpPr/>
          <p:nvPr/>
        </p:nvSpPr>
        <p:spPr>
          <a:xfrm>
            <a:off x="782002" y="1335286"/>
            <a:ext cx="13066395" cy="232410"/>
          </a:xfrm>
          <a:prstGeom prst="rect">
            <a:avLst/>
          </a:prstGeom>
          <a:noFill/>
          <a:ln/>
        </p:spPr>
        <p:txBody>
          <a:bodyPr wrap="none" lIns="0" tIns="0" rIns="0" bIns="0" rtlCol="0" anchor="t"/>
          <a:lstStyle/>
          <a:p>
            <a:pPr marL="0" indent="0" algn="l">
              <a:lnSpc>
                <a:spcPts val="1800"/>
              </a:lnSpc>
              <a:buNone/>
            </a:pPr>
            <a:r>
              <a:rPr lang="en-US" sz="1100" dirty="0">
                <a:solidFill>
                  <a:srgbClr val="272525"/>
                </a:solidFill>
                <a:latin typeface="Source Sans 3" pitchFamily="34" charset="0"/>
                <a:ea typeface="Source Sans 3" pitchFamily="34" charset="-122"/>
                <a:cs typeface="Source Sans 3" pitchFamily="34" charset="-120"/>
              </a:rPr>
              <a:t>The project answers 10 key analytical questions:</a:t>
            </a:r>
            <a:endParaRPr lang="en-US" sz="1100" dirty="0"/>
          </a:p>
        </p:txBody>
      </p:sp>
      <p:sp>
        <p:nvSpPr>
          <p:cNvPr id="4" name="Shape 2"/>
          <p:cNvSpPr/>
          <p:nvPr/>
        </p:nvSpPr>
        <p:spPr>
          <a:xfrm>
            <a:off x="782002" y="1731050"/>
            <a:ext cx="326707" cy="326708"/>
          </a:xfrm>
          <a:prstGeom prst="roundRect">
            <a:avLst>
              <a:gd name="adj" fmla="val 18672"/>
            </a:avLst>
          </a:prstGeom>
          <a:solidFill>
            <a:srgbClr val="F4D4F7"/>
          </a:solidFill>
          <a:ln w="7620">
            <a:solidFill>
              <a:srgbClr val="DABADD"/>
            </a:solidFill>
            <a:prstDash val="solid"/>
          </a:ln>
        </p:spPr>
        <p:txBody>
          <a:bodyPr/>
          <a:lstStyle/>
          <a:p>
            <a:endParaRPr lang="en-IN"/>
          </a:p>
        </p:txBody>
      </p:sp>
      <p:sp>
        <p:nvSpPr>
          <p:cNvPr id="5" name="Text 3"/>
          <p:cNvSpPr/>
          <p:nvPr/>
        </p:nvSpPr>
        <p:spPr>
          <a:xfrm>
            <a:off x="842843" y="1766292"/>
            <a:ext cx="205026" cy="256223"/>
          </a:xfrm>
          <a:prstGeom prst="rect">
            <a:avLst/>
          </a:prstGeom>
          <a:noFill/>
          <a:ln/>
        </p:spPr>
        <p:txBody>
          <a:bodyPr wrap="none" lIns="0" tIns="0" rIns="0" bIns="0" rtlCol="0" anchor="t"/>
          <a:lstStyle/>
          <a:p>
            <a:pPr marL="0" indent="0" algn="ctr">
              <a:lnSpc>
                <a:spcPts val="1600"/>
              </a:lnSpc>
              <a:buNone/>
            </a:pPr>
            <a:r>
              <a:rPr lang="en-US" sz="1600" dirty="0">
                <a:solidFill>
                  <a:srgbClr val="272525"/>
                </a:solidFill>
                <a:latin typeface="Source Serif 4 Semi Bold" pitchFamily="34" charset="0"/>
                <a:ea typeface="Source Serif 4 Semi Bold" pitchFamily="34" charset="-122"/>
                <a:cs typeface="Source Serif 4 Semi Bold" pitchFamily="34" charset="-120"/>
              </a:rPr>
              <a:t>1</a:t>
            </a:r>
            <a:endParaRPr lang="en-US" sz="1600" dirty="0"/>
          </a:p>
        </p:txBody>
      </p:sp>
      <p:sp>
        <p:nvSpPr>
          <p:cNvPr id="6" name="Text 4"/>
          <p:cNvSpPr/>
          <p:nvPr/>
        </p:nvSpPr>
        <p:spPr>
          <a:xfrm>
            <a:off x="1253847" y="1780937"/>
            <a:ext cx="3834289" cy="213479"/>
          </a:xfrm>
          <a:prstGeom prst="rect">
            <a:avLst/>
          </a:prstGeom>
          <a:noFill/>
          <a:ln/>
        </p:spPr>
        <p:txBody>
          <a:bodyPr wrap="none" lIns="0" tIns="0" rIns="0" bIns="0" rtlCol="0" anchor="t"/>
          <a:lstStyle/>
          <a:p>
            <a:pPr marL="0" indent="0" algn="l">
              <a:lnSpc>
                <a:spcPts val="1650"/>
              </a:lnSpc>
              <a:buNone/>
            </a:pPr>
            <a:r>
              <a:rPr lang="en-US" sz="1300" dirty="0">
                <a:solidFill>
                  <a:srgbClr val="272525"/>
                </a:solidFill>
                <a:latin typeface="Source Serif 4 Semi Bold" pitchFamily="34" charset="0"/>
                <a:ea typeface="Source Serif 4 Semi Bold" pitchFamily="34" charset="-122"/>
                <a:cs typeface="Source Serif 4 Semi Bold" pitchFamily="34" charset="-120"/>
              </a:rPr>
              <a:t>Which brands have the highest average rating?</a:t>
            </a:r>
            <a:endParaRPr lang="en-US" sz="1300" dirty="0"/>
          </a:p>
        </p:txBody>
      </p:sp>
      <p:sp>
        <p:nvSpPr>
          <p:cNvPr id="7" name="Shape 5"/>
          <p:cNvSpPr/>
          <p:nvPr/>
        </p:nvSpPr>
        <p:spPr>
          <a:xfrm>
            <a:off x="782002" y="2348151"/>
            <a:ext cx="326707" cy="326708"/>
          </a:xfrm>
          <a:prstGeom prst="roundRect">
            <a:avLst>
              <a:gd name="adj" fmla="val 18672"/>
            </a:avLst>
          </a:prstGeom>
          <a:solidFill>
            <a:srgbClr val="F4D4F7"/>
          </a:solidFill>
          <a:ln w="7620">
            <a:solidFill>
              <a:srgbClr val="DABADD"/>
            </a:solidFill>
            <a:prstDash val="solid"/>
          </a:ln>
        </p:spPr>
        <p:txBody>
          <a:bodyPr/>
          <a:lstStyle/>
          <a:p>
            <a:endParaRPr lang="en-IN"/>
          </a:p>
        </p:txBody>
      </p:sp>
      <p:sp>
        <p:nvSpPr>
          <p:cNvPr id="8" name="Text 6"/>
          <p:cNvSpPr/>
          <p:nvPr/>
        </p:nvSpPr>
        <p:spPr>
          <a:xfrm>
            <a:off x="842843" y="2383393"/>
            <a:ext cx="205026" cy="256223"/>
          </a:xfrm>
          <a:prstGeom prst="rect">
            <a:avLst/>
          </a:prstGeom>
          <a:noFill/>
          <a:ln/>
        </p:spPr>
        <p:txBody>
          <a:bodyPr wrap="none" lIns="0" tIns="0" rIns="0" bIns="0" rtlCol="0" anchor="t"/>
          <a:lstStyle/>
          <a:p>
            <a:pPr marL="0" indent="0" algn="ctr">
              <a:lnSpc>
                <a:spcPts val="1600"/>
              </a:lnSpc>
              <a:buNone/>
            </a:pPr>
            <a:r>
              <a:rPr lang="en-US" sz="1600" dirty="0">
                <a:solidFill>
                  <a:srgbClr val="272525"/>
                </a:solidFill>
                <a:latin typeface="Source Serif 4 Semi Bold" pitchFamily="34" charset="0"/>
                <a:ea typeface="Source Serif 4 Semi Bold" pitchFamily="34" charset="-122"/>
                <a:cs typeface="Source Serif 4 Semi Bold" pitchFamily="34" charset="-120"/>
              </a:rPr>
              <a:t>2</a:t>
            </a:r>
            <a:endParaRPr lang="en-US" sz="1600" dirty="0"/>
          </a:p>
        </p:txBody>
      </p:sp>
      <p:sp>
        <p:nvSpPr>
          <p:cNvPr id="9" name="Text 7"/>
          <p:cNvSpPr/>
          <p:nvPr/>
        </p:nvSpPr>
        <p:spPr>
          <a:xfrm>
            <a:off x="1253847" y="2398038"/>
            <a:ext cx="4565928" cy="213479"/>
          </a:xfrm>
          <a:prstGeom prst="rect">
            <a:avLst/>
          </a:prstGeom>
          <a:noFill/>
          <a:ln/>
        </p:spPr>
        <p:txBody>
          <a:bodyPr wrap="none" lIns="0" tIns="0" rIns="0" bIns="0" rtlCol="0" anchor="t"/>
          <a:lstStyle/>
          <a:p>
            <a:pPr marL="0" indent="0" algn="l">
              <a:lnSpc>
                <a:spcPts val="1650"/>
              </a:lnSpc>
              <a:buNone/>
            </a:pPr>
            <a:r>
              <a:rPr lang="en-US" sz="1300" dirty="0">
                <a:solidFill>
                  <a:srgbClr val="272525"/>
                </a:solidFill>
                <a:latin typeface="Source Serif 4 Semi Bold" pitchFamily="34" charset="0"/>
                <a:ea typeface="Source Serif 4 Semi Bold" pitchFamily="34" charset="-122"/>
                <a:cs typeface="Source Serif 4 Semi Bold" pitchFamily="34" charset="-120"/>
              </a:rPr>
              <a:t>Are there products with high discounts but low ratings?</a:t>
            </a:r>
            <a:endParaRPr lang="en-US" sz="1300" dirty="0"/>
          </a:p>
        </p:txBody>
      </p:sp>
      <p:sp>
        <p:nvSpPr>
          <p:cNvPr id="10" name="Shape 8"/>
          <p:cNvSpPr/>
          <p:nvPr/>
        </p:nvSpPr>
        <p:spPr>
          <a:xfrm>
            <a:off x="782002" y="2965252"/>
            <a:ext cx="326707" cy="326708"/>
          </a:xfrm>
          <a:prstGeom prst="roundRect">
            <a:avLst>
              <a:gd name="adj" fmla="val 18672"/>
            </a:avLst>
          </a:prstGeom>
          <a:solidFill>
            <a:srgbClr val="F4D4F7"/>
          </a:solidFill>
          <a:ln w="7620">
            <a:solidFill>
              <a:srgbClr val="DABADD"/>
            </a:solidFill>
            <a:prstDash val="solid"/>
          </a:ln>
        </p:spPr>
        <p:txBody>
          <a:bodyPr/>
          <a:lstStyle/>
          <a:p>
            <a:endParaRPr lang="en-IN"/>
          </a:p>
        </p:txBody>
      </p:sp>
      <p:sp>
        <p:nvSpPr>
          <p:cNvPr id="11" name="Text 9"/>
          <p:cNvSpPr/>
          <p:nvPr/>
        </p:nvSpPr>
        <p:spPr>
          <a:xfrm>
            <a:off x="842843" y="3000494"/>
            <a:ext cx="205026" cy="256223"/>
          </a:xfrm>
          <a:prstGeom prst="rect">
            <a:avLst/>
          </a:prstGeom>
          <a:noFill/>
          <a:ln/>
        </p:spPr>
        <p:txBody>
          <a:bodyPr wrap="none" lIns="0" tIns="0" rIns="0" bIns="0" rtlCol="0" anchor="t"/>
          <a:lstStyle/>
          <a:p>
            <a:pPr marL="0" indent="0" algn="ctr">
              <a:lnSpc>
                <a:spcPts val="1600"/>
              </a:lnSpc>
              <a:buNone/>
            </a:pPr>
            <a:r>
              <a:rPr lang="en-US" sz="1600" dirty="0">
                <a:solidFill>
                  <a:srgbClr val="272525"/>
                </a:solidFill>
                <a:latin typeface="Source Serif 4 Semi Bold" pitchFamily="34" charset="0"/>
                <a:ea typeface="Source Serif 4 Semi Bold" pitchFamily="34" charset="-122"/>
                <a:cs typeface="Source Serif 4 Semi Bold" pitchFamily="34" charset="-120"/>
              </a:rPr>
              <a:t>3</a:t>
            </a:r>
            <a:endParaRPr lang="en-US" sz="1600" dirty="0"/>
          </a:p>
        </p:txBody>
      </p:sp>
      <p:sp>
        <p:nvSpPr>
          <p:cNvPr id="12" name="Text 10"/>
          <p:cNvSpPr/>
          <p:nvPr/>
        </p:nvSpPr>
        <p:spPr>
          <a:xfrm>
            <a:off x="1253847" y="3015139"/>
            <a:ext cx="3450669" cy="213479"/>
          </a:xfrm>
          <a:prstGeom prst="rect">
            <a:avLst/>
          </a:prstGeom>
          <a:noFill/>
          <a:ln/>
        </p:spPr>
        <p:txBody>
          <a:bodyPr wrap="none" lIns="0" tIns="0" rIns="0" bIns="0" rtlCol="0" anchor="t"/>
          <a:lstStyle/>
          <a:p>
            <a:pPr marL="0" indent="0" algn="l">
              <a:lnSpc>
                <a:spcPts val="1650"/>
              </a:lnSpc>
              <a:buNone/>
            </a:pPr>
            <a:r>
              <a:rPr lang="en-US" sz="1300" dirty="0">
                <a:solidFill>
                  <a:srgbClr val="272525"/>
                </a:solidFill>
                <a:latin typeface="Source Serif 4 Semi Bold" pitchFamily="34" charset="0"/>
                <a:ea typeface="Source Serif 4 Semi Bold" pitchFamily="34" charset="-122"/>
                <a:cs typeface="Source Serif 4 Semi Bold" pitchFamily="34" charset="-120"/>
              </a:rPr>
              <a:t>Which brands generate the most revenue?</a:t>
            </a:r>
            <a:endParaRPr lang="en-US" sz="1300" dirty="0"/>
          </a:p>
        </p:txBody>
      </p:sp>
      <p:sp>
        <p:nvSpPr>
          <p:cNvPr id="13" name="Shape 11"/>
          <p:cNvSpPr/>
          <p:nvPr/>
        </p:nvSpPr>
        <p:spPr>
          <a:xfrm>
            <a:off x="782002" y="3582353"/>
            <a:ext cx="326707" cy="326708"/>
          </a:xfrm>
          <a:prstGeom prst="roundRect">
            <a:avLst>
              <a:gd name="adj" fmla="val 18672"/>
            </a:avLst>
          </a:prstGeom>
          <a:solidFill>
            <a:srgbClr val="F4D4F7"/>
          </a:solidFill>
          <a:ln w="7620">
            <a:solidFill>
              <a:srgbClr val="DABADD"/>
            </a:solidFill>
            <a:prstDash val="solid"/>
          </a:ln>
        </p:spPr>
        <p:txBody>
          <a:bodyPr/>
          <a:lstStyle/>
          <a:p>
            <a:endParaRPr lang="en-IN"/>
          </a:p>
        </p:txBody>
      </p:sp>
      <p:sp>
        <p:nvSpPr>
          <p:cNvPr id="14" name="Text 12"/>
          <p:cNvSpPr/>
          <p:nvPr/>
        </p:nvSpPr>
        <p:spPr>
          <a:xfrm>
            <a:off x="842843" y="3617595"/>
            <a:ext cx="205026" cy="256223"/>
          </a:xfrm>
          <a:prstGeom prst="rect">
            <a:avLst/>
          </a:prstGeom>
          <a:noFill/>
          <a:ln/>
        </p:spPr>
        <p:txBody>
          <a:bodyPr wrap="none" lIns="0" tIns="0" rIns="0" bIns="0" rtlCol="0" anchor="t"/>
          <a:lstStyle/>
          <a:p>
            <a:pPr marL="0" indent="0" algn="ctr">
              <a:lnSpc>
                <a:spcPts val="1600"/>
              </a:lnSpc>
              <a:buNone/>
            </a:pPr>
            <a:r>
              <a:rPr lang="en-US" sz="1600" dirty="0">
                <a:solidFill>
                  <a:srgbClr val="272525"/>
                </a:solidFill>
                <a:latin typeface="Source Serif 4 Semi Bold" pitchFamily="34" charset="0"/>
                <a:ea typeface="Source Serif 4 Semi Bold" pitchFamily="34" charset="-122"/>
                <a:cs typeface="Source Serif 4 Semi Bold" pitchFamily="34" charset="-120"/>
              </a:rPr>
              <a:t>4</a:t>
            </a:r>
            <a:endParaRPr lang="en-US" sz="1600" dirty="0"/>
          </a:p>
        </p:txBody>
      </p:sp>
      <p:sp>
        <p:nvSpPr>
          <p:cNvPr id="15" name="Text 13"/>
          <p:cNvSpPr/>
          <p:nvPr/>
        </p:nvSpPr>
        <p:spPr>
          <a:xfrm>
            <a:off x="1253847" y="3632240"/>
            <a:ext cx="5501045" cy="213479"/>
          </a:xfrm>
          <a:prstGeom prst="rect">
            <a:avLst/>
          </a:prstGeom>
          <a:noFill/>
          <a:ln/>
        </p:spPr>
        <p:txBody>
          <a:bodyPr wrap="none" lIns="0" tIns="0" rIns="0" bIns="0" rtlCol="0" anchor="t"/>
          <a:lstStyle/>
          <a:p>
            <a:pPr marL="0" indent="0" algn="l">
              <a:lnSpc>
                <a:spcPts val="1650"/>
              </a:lnSpc>
              <a:buNone/>
            </a:pPr>
            <a:r>
              <a:rPr lang="en-US" sz="1300" dirty="0">
                <a:solidFill>
                  <a:srgbClr val="272525"/>
                </a:solidFill>
                <a:latin typeface="Source Serif 4 Semi Bold" pitchFamily="34" charset="0"/>
                <a:ea typeface="Source Serif 4 Semi Bold" pitchFamily="34" charset="-122"/>
                <a:cs typeface="Source Serif 4 Semi Bold" pitchFamily="34" charset="-120"/>
              </a:rPr>
              <a:t>Are there brands with premium pricing but below-average ratings?</a:t>
            </a:r>
            <a:endParaRPr lang="en-US" sz="1300" dirty="0"/>
          </a:p>
        </p:txBody>
      </p:sp>
      <p:sp>
        <p:nvSpPr>
          <p:cNvPr id="16" name="Shape 14"/>
          <p:cNvSpPr/>
          <p:nvPr/>
        </p:nvSpPr>
        <p:spPr>
          <a:xfrm>
            <a:off x="782002" y="4199453"/>
            <a:ext cx="326707" cy="326708"/>
          </a:xfrm>
          <a:prstGeom prst="roundRect">
            <a:avLst>
              <a:gd name="adj" fmla="val 18672"/>
            </a:avLst>
          </a:prstGeom>
          <a:solidFill>
            <a:srgbClr val="F4D4F7"/>
          </a:solidFill>
          <a:ln w="7620">
            <a:solidFill>
              <a:srgbClr val="DABADD"/>
            </a:solidFill>
            <a:prstDash val="solid"/>
          </a:ln>
        </p:spPr>
        <p:txBody>
          <a:bodyPr/>
          <a:lstStyle/>
          <a:p>
            <a:endParaRPr lang="en-IN"/>
          </a:p>
        </p:txBody>
      </p:sp>
      <p:sp>
        <p:nvSpPr>
          <p:cNvPr id="17" name="Text 15"/>
          <p:cNvSpPr/>
          <p:nvPr/>
        </p:nvSpPr>
        <p:spPr>
          <a:xfrm>
            <a:off x="842843" y="4234696"/>
            <a:ext cx="205026" cy="256223"/>
          </a:xfrm>
          <a:prstGeom prst="rect">
            <a:avLst/>
          </a:prstGeom>
          <a:noFill/>
          <a:ln/>
        </p:spPr>
        <p:txBody>
          <a:bodyPr wrap="none" lIns="0" tIns="0" rIns="0" bIns="0" rtlCol="0" anchor="t"/>
          <a:lstStyle/>
          <a:p>
            <a:pPr marL="0" indent="0" algn="ctr">
              <a:lnSpc>
                <a:spcPts val="1600"/>
              </a:lnSpc>
              <a:buNone/>
            </a:pPr>
            <a:r>
              <a:rPr lang="en-US" sz="1600" dirty="0">
                <a:solidFill>
                  <a:srgbClr val="272525"/>
                </a:solidFill>
                <a:latin typeface="Source Serif 4 Semi Bold" pitchFamily="34" charset="0"/>
                <a:ea typeface="Source Serif 4 Semi Bold" pitchFamily="34" charset="-122"/>
                <a:cs typeface="Source Serif 4 Semi Bold" pitchFamily="34" charset="-120"/>
              </a:rPr>
              <a:t>5</a:t>
            </a:r>
            <a:endParaRPr lang="en-US" sz="1600" dirty="0"/>
          </a:p>
        </p:txBody>
      </p:sp>
      <p:sp>
        <p:nvSpPr>
          <p:cNvPr id="18" name="Text 16"/>
          <p:cNvSpPr/>
          <p:nvPr/>
        </p:nvSpPr>
        <p:spPr>
          <a:xfrm>
            <a:off x="1253847" y="4249341"/>
            <a:ext cx="5314593" cy="213479"/>
          </a:xfrm>
          <a:prstGeom prst="rect">
            <a:avLst/>
          </a:prstGeom>
          <a:noFill/>
          <a:ln/>
        </p:spPr>
        <p:txBody>
          <a:bodyPr wrap="none" lIns="0" tIns="0" rIns="0" bIns="0" rtlCol="0" anchor="t"/>
          <a:lstStyle/>
          <a:p>
            <a:pPr marL="0" indent="0" algn="l">
              <a:lnSpc>
                <a:spcPts val="1650"/>
              </a:lnSpc>
              <a:buNone/>
            </a:pPr>
            <a:r>
              <a:rPr lang="en-US" sz="1300" dirty="0">
                <a:solidFill>
                  <a:srgbClr val="272525"/>
                </a:solidFill>
                <a:latin typeface="Source Serif 4 Semi Bold" pitchFamily="34" charset="0"/>
                <a:ea typeface="Source Serif 4 Semi Bold" pitchFamily="34" charset="-122"/>
                <a:cs typeface="Source Serif 4 Semi Bold" pitchFamily="34" charset="-120"/>
              </a:rPr>
              <a:t>How does each product’s price compare with its brand’s average?</a:t>
            </a:r>
            <a:endParaRPr lang="en-US" sz="1300" dirty="0"/>
          </a:p>
        </p:txBody>
      </p:sp>
      <p:sp>
        <p:nvSpPr>
          <p:cNvPr id="19" name="Shape 17"/>
          <p:cNvSpPr/>
          <p:nvPr/>
        </p:nvSpPr>
        <p:spPr>
          <a:xfrm>
            <a:off x="782002" y="4816554"/>
            <a:ext cx="326707" cy="326708"/>
          </a:xfrm>
          <a:prstGeom prst="roundRect">
            <a:avLst>
              <a:gd name="adj" fmla="val 18672"/>
            </a:avLst>
          </a:prstGeom>
          <a:solidFill>
            <a:srgbClr val="F4D4F7"/>
          </a:solidFill>
          <a:ln w="7620">
            <a:solidFill>
              <a:srgbClr val="DABADD"/>
            </a:solidFill>
            <a:prstDash val="solid"/>
          </a:ln>
        </p:spPr>
        <p:txBody>
          <a:bodyPr/>
          <a:lstStyle/>
          <a:p>
            <a:endParaRPr lang="en-IN"/>
          </a:p>
        </p:txBody>
      </p:sp>
      <p:sp>
        <p:nvSpPr>
          <p:cNvPr id="20" name="Text 18"/>
          <p:cNvSpPr/>
          <p:nvPr/>
        </p:nvSpPr>
        <p:spPr>
          <a:xfrm>
            <a:off x="842843" y="4851797"/>
            <a:ext cx="205026" cy="256223"/>
          </a:xfrm>
          <a:prstGeom prst="rect">
            <a:avLst/>
          </a:prstGeom>
          <a:noFill/>
          <a:ln/>
        </p:spPr>
        <p:txBody>
          <a:bodyPr wrap="none" lIns="0" tIns="0" rIns="0" bIns="0" rtlCol="0" anchor="t"/>
          <a:lstStyle/>
          <a:p>
            <a:pPr marL="0" indent="0" algn="ctr">
              <a:lnSpc>
                <a:spcPts val="1600"/>
              </a:lnSpc>
              <a:buNone/>
            </a:pPr>
            <a:r>
              <a:rPr lang="en-US" sz="1600" dirty="0">
                <a:solidFill>
                  <a:srgbClr val="272525"/>
                </a:solidFill>
                <a:latin typeface="Source Serif 4 Semi Bold" pitchFamily="34" charset="0"/>
                <a:ea typeface="Source Serif 4 Semi Bold" pitchFamily="34" charset="-122"/>
                <a:cs typeface="Source Serif 4 Semi Bold" pitchFamily="34" charset="-120"/>
              </a:rPr>
              <a:t>6</a:t>
            </a:r>
            <a:endParaRPr lang="en-US" sz="1600" dirty="0"/>
          </a:p>
        </p:txBody>
      </p:sp>
      <p:sp>
        <p:nvSpPr>
          <p:cNvPr id="21" name="Text 19"/>
          <p:cNvSpPr/>
          <p:nvPr/>
        </p:nvSpPr>
        <p:spPr>
          <a:xfrm>
            <a:off x="1253847" y="4866442"/>
            <a:ext cx="3485436" cy="213479"/>
          </a:xfrm>
          <a:prstGeom prst="rect">
            <a:avLst/>
          </a:prstGeom>
          <a:noFill/>
          <a:ln/>
        </p:spPr>
        <p:txBody>
          <a:bodyPr wrap="none" lIns="0" tIns="0" rIns="0" bIns="0" rtlCol="0" anchor="t"/>
          <a:lstStyle/>
          <a:p>
            <a:pPr marL="0" indent="0" algn="l">
              <a:lnSpc>
                <a:spcPts val="1650"/>
              </a:lnSpc>
              <a:buNone/>
            </a:pPr>
            <a:r>
              <a:rPr lang="en-US" sz="1300" dirty="0">
                <a:solidFill>
                  <a:srgbClr val="272525"/>
                </a:solidFill>
                <a:latin typeface="Source Serif 4 Semi Bold" pitchFamily="34" charset="0"/>
                <a:ea typeface="Source Serif 4 Semi Bold" pitchFamily="34" charset="-122"/>
                <a:cs typeface="Source Serif 4 Semi Bold" pitchFamily="34" charset="-120"/>
              </a:rPr>
              <a:t>What is the most-rated product per brand?</a:t>
            </a:r>
            <a:endParaRPr lang="en-US" sz="1300" dirty="0"/>
          </a:p>
        </p:txBody>
      </p:sp>
      <p:sp>
        <p:nvSpPr>
          <p:cNvPr id="22" name="Shape 20"/>
          <p:cNvSpPr/>
          <p:nvPr/>
        </p:nvSpPr>
        <p:spPr>
          <a:xfrm>
            <a:off x="782002" y="5433655"/>
            <a:ext cx="326707" cy="326708"/>
          </a:xfrm>
          <a:prstGeom prst="roundRect">
            <a:avLst>
              <a:gd name="adj" fmla="val 18672"/>
            </a:avLst>
          </a:prstGeom>
          <a:solidFill>
            <a:srgbClr val="F4D4F7"/>
          </a:solidFill>
          <a:ln w="7620">
            <a:solidFill>
              <a:srgbClr val="DABADD"/>
            </a:solidFill>
            <a:prstDash val="solid"/>
          </a:ln>
        </p:spPr>
        <p:txBody>
          <a:bodyPr/>
          <a:lstStyle/>
          <a:p>
            <a:endParaRPr lang="en-IN"/>
          </a:p>
        </p:txBody>
      </p:sp>
      <p:sp>
        <p:nvSpPr>
          <p:cNvPr id="23" name="Text 21"/>
          <p:cNvSpPr/>
          <p:nvPr/>
        </p:nvSpPr>
        <p:spPr>
          <a:xfrm>
            <a:off x="842843" y="5468898"/>
            <a:ext cx="205026" cy="256223"/>
          </a:xfrm>
          <a:prstGeom prst="rect">
            <a:avLst/>
          </a:prstGeom>
          <a:noFill/>
          <a:ln/>
        </p:spPr>
        <p:txBody>
          <a:bodyPr wrap="none" lIns="0" tIns="0" rIns="0" bIns="0" rtlCol="0" anchor="t"/>
          <a:lstStyle/>
          <a:p>
            <a:pPr marL="0" indent="0" algn="ctr">
              <a:lnSpc>
                <a:spcPts val="1600"/>
              </a:lnSpc>
              <a:buNone/>
            </a:pPr>
            <a:r>
              <a:rPr lang="en-US" sz="1600" dirty="0">
                <a:solidFill>
                  <a:srgbClr val="272525"/>
                </a:solidFill>
                <a:latin typeface="Source Serif 4 Semi Bold" pitchFamily="34" charset="0"/>
                <a:ea typeface="Source Serif 4 Semi Bold" pitchFamily="34" charset="-122"/>
                <a:cs typeface="Source Serif 4 Semi Bold" pitchFamily="34" charset="-120"/>
              </a:rPr>
              <a:t>7</a:t>
            </a:r>
            <a:endParaRPr lang="en-US" sz="1600" dirty="0"/>
          </a:p>
        </p:txBody>
      </p:sp>
      <p:sp>
        <p:nvSpPr>
          <p:cNvPr id="24" name="Text 22"/>
          <p:cNvSpPr/>
          <p:nvPr/>
        </p:nvSpPr>
        <p:spPr>
          <a:xfrm>
            <a:off x="1253847" y="5483543"/>
            <a:ext cx="3523059" cy="213479"/>
          </a:xfrm>
          <a:prstGeom prst="rect">
            <a:avLst/>
          </a:prstGeom>
          <a:noFill/>
          <a:ln/>
        </p:spPr>
        <p:txBody>
          <a:bodyPr wrap="none" lIns="0" tIns="0" rIns="0" bIns="0" rtlCol="0" anchor="t"/>
          <a:lstStyle/>
          <a:p>
            <a:pPr marL="0" indent="0" algn="l">
              <a:lnSpc>
                <a:spcPts val="1650"/>
              </a:lnSpc>
              <a:buNone/>
            </a:pPr>
            <a:r>
              <a:rPr lang="en-US" sz="1300" dirty="0">
                <a:solidFill>
                  <a:srgbClr val="272525"/>
                </a:solidFill>
                <a:latin typeface="Source Serif 4 Semi Bold" pitchFamily="34" charset="0"/>
                <a:ea typeface="Source Serif 4 Semi Bold" pitchFamily="34" charset="-122"/>
                <a:cs typeface="Source Serif 4 Semi Bold" pitchFamily="34" charset="-120"/>
              </a:rPr>
              <a:t>How are discounts correlated with ratings?</a:t>
            </a:r>
            <a:endParaRPr lang="en-US" sz="1300" dirty="0"/>
          </a:p>
        </p:txBody>
      </p:sp>
      <p:sp>
        <p:nvSpPr>
          <p:cNvPr id="25" name="Shape 23"/>
          <p:cNvSpPr/>
          <p:nvPr/>
        </p:nvSpPr>
        <p:spPr>
          <a:xfrm>
            <a:off x="782002" y="6050756"/>
            <a:ext cx="326707" cy="326708"/>
          </a:xfrm>
          <a:prstGeom prst="roundRect">
            <a:avLst>
              <a:gd name="adj" fmla="val 18672"/>
            </a:avLst>
          </a:prstGeom>
          <a:solidFill>
            <a:srgbClr val="F4D4F7"/>
          </a:solidFill>
          <a:ln w="7620">
            <a:solidFill>
              <a:srgbClr val="DABADD"/>
            </a:solidFill>
            <a:prstDash val="solid"/>
          </a:ln>
        </p:spPr>
        <p:txBody>
          <a:bodyPr/>
          <a:lstStyle/>
          <a:p>
            <a:endParaRPr lang="en-IN"/>
          </a:p>
        </p:txBody>
      </p:sp>
      <p:sp>
        <p:nvSpPr>
          <p:cNvPr id="26" name="Text 24"/>
          <p:cNvSpPr/>
          <p:nvPr/>
        </p:nvSpPr>
        <p:spPr>
          <a:xfrm>
            <a:off x="842843" y="6085999"/>
            <a:ext cx="205026" cy="256223"/>
          </a:xfrm>
          <a:prstGeom prst="rect">
            <a:avLst/>
          </a:prstGeom>
          <a:noFill/>
          <a:ln/>
        </p:spPr>
        <p:txBody>
          <a:bodyPr wrap="none" lIns="0" tIns="0" rIns="0" bIns="0" rtlCol="0" anchor="t"/>
          <a:lstStyle/>
          <a:p>
            <a:pPr marL="0" indent="0" algn="ctr">
              <a:lnSpc>
                <a:spcPts val="1600"/>
              </a:lnSpc>
              <a:buNone/>
            </a:pPr>
            <a:r>
              <a:rPr lang="en-US" sz="1600" dirty="0">
                <a:solidFill>
                  <a:srgbClr val="272525"/>
                </a:solidFill>
                <a:latin typeface="Source Serif 4 Semi Bold" pitchFamily="34" charset="0"/>
                <a:ea typeface="Source Serif 4 Semi Bold" pitchFamily="34" charset="-122"/>
                <a:cs typeface="Source Serif 4 Semi Bold" pitchFamily="34" charset="-120"/>
              </a:rPr>
              <a:t>8</a:t>
            </a:r>
            <a:endParaRPr lang="en-US" sz="1600" dirty="0"/>
          </a:p>
        </p:txBody>
      </p:sp>
      <p:sp>
        <p:nvSpPr>
          <p:cNvPr id="27" name="Text 25"/>
          <p:cNvSpPr/>
          <p:nvPr/>
        </p:nvSpPr>
        <p:spPr>
          <a:xfrm>
            <a:off x="1253847" y="6100643"/>
            <a:ext cx="5321260" cy="213479"/>
          </a:xfrm>
          <a:prstGeom prst="rect">
            <a:avLst/>
          </a:prstGeom>
          <a:noFill/>
          <a:ln/>
        </p:spPr>
        <p:txBody>
          <a:bodyPr wrap="none" lIns="0" tIns="0" rIns="0" bIns="0" rtlCol="0" anchor="t"/>
          <a:lstStyle/>
          <a:p>
            <a:pPr marL="0" indent="0" algn="l">
              <a:lnSpc>
                <a:spcPts val="1650"/>
              </a:lnSpc>
              <a:buNone/>
            </a:pPr>
            <a:r>
              <a:rPr lang="en-US" sz="1300" dirty="0">
                <a:solidFill>
                  <a:srgbClr val="272525"/>
                </a:solidFill>
                <a:latin typeface="Source Serif 4 Semi Bold" pitchFamily="34" charset="0"/>
                <a:ea typeface="Source Serif 4 Semi Bold" pitchFamily="34" charset="-122"/>
                <a:cs typeface="Source Serif 4 Semi Bold" pitchFamily="34" charset="-120"/>
              </a:rPr>
              <a:t>Which brands have both highly loved and poorly rated products?</a:t>
            </a:r>
            <a:endParaRPr lang="en-US" sz="1300" dirty="0"/>
          </a:p>
        </p:txBody>
      </p:sp>
      <p:sp>
        <p:nvSpPr>
          <p:cNvPr id="28" name="Shape 26"/>
          <p:cNvSpPr/>
          <p:nvPr/>
        </p:nvSpPr>
        <p:spPr>
          <a:xfrm>
            <a:off x="782002" y="6667857"/>
            <a:ext cx="326707" cy="326708"/>
          </a:xfrm>
          <a:prstGeom prst="roundRect">
            <a:avLst>
              <a:gd name="adj" fmla="val 18672"/>
            </a:avLst>
          </a:prstGeom>
          <a:solidFill>
            <a:srgbClr val="F4D4F7"/>
          </a:solidFill>
          <a:ln w="7620">
            <a:solidFill>
              <a:srgbClr val="DABADD"/>
            </a:solidFill>
            <a:prstDash val="solid"/>
          </a:ln>
        </p:spPr>
        <p:txBody>
          <a:bodyPr/>
          <a:lstStyle/>
          <a:p>
            <a:endParaRPr lang="en-IN"/>
          </a:p>
        </p:txBody>
      </p:sp>
      <p:sp>
        <p:nvSpPr>
          <p:cNvPr id="29" name="Text 27"/>
          <p:cNvSpPr/>
          <p:nvPr/>
        </p:nvSpPr>
        <p:spPr>
          <a:xfrm>
            <a:off x="842843" y="6703100"/>
            <a:ext cx="205026" cy="256223"/>
          </a:xfrm>
          <a:prstGeom prst="rect">
            <a:avLst/>
          </a:prstGeom>
          <a:noFill/>
          <a:ln/>
        </p:spPr>
        <p:txBody>
          <a:bodyPr wrap="none" lIns="0" tIns="0" rIns="0" bIns="0" rtlCol="0" anchor="t"/>
          <a:lstStyle/>
          <a:p>
            <a:pPr marL="0" indent="0" algn="ctr">
              <a:lnSpc>
                <a:spcPts val="1600"/>
              </a:lnSpc>
              <a:buNone/>
            </a:pPr>
            <a:r>
              <a:rPr lang="en-US" sz="1600" dirty="0">
                <a:solidFill>
                  <a:srgbClr val="272525"/>
                </a:solidFill>
                <a:latin typeface="Source Serif 4 Semi Bold" pitchFamily="34" charset="0"/>
                <a:ea typeface="Source Serif 4 Semi Bold" pitchFamily="34" charset="-122"/>
                <a:cs typeface="Source Serif 4 Semi Bold" pitchFamily="34" charset="-120"/>
              </a:rPr>
              <a:t>9</a:t>
            </a:r>
            <a:endParaRPr lang="en-US" sz="1600" dirty="0"/>
          </a:p>
        </p:txBody>
      </p:sp>
      <p:sp>
        <p:nvSpPr>
          <p:cNvPr id="30" name="Text 28"/>
          <p:cNvSpPr/>
          <p:nvPr/>
        </p:nvSpPr>
        <p:spPr>
          <a:xfrm>
            <a:off x="1253847" y="6717744"/>
            <a:ext cx="5348049" cy="213479"/>
          </a:xfrm>
          <a:prstGeom prst="rect">
            <a:avLst/>
          </a:prstGeom>
          <a:noFill/>
          <a:ln/>
        </p:spPr>
        <p:txBody>
          <a:bodyPr wrap="none" lIns="0" tIns="0" rIns="0" bIns="0" rtlCol="0" anchor="t"/>
          <a:lstStyle/>
          <a:p>
            <a:pPr marL="0" indent="0" algn="l">
              <a:lnSpc>
                <a:spcPts val="1650"/>
              </a:lnSpc>
              <a:buNone/>
            </a:pPr>
            <a:r>
              <a:rPr lang="en-US" sz="1300" dirty="0">
                <a:solidFill>
                  <a:srgbClr val="272525"/>
                </a:solidFill>
                <a:latin typeface="Source Serif 4 Semi Bold" pitchFamily="34" charset="0"/>
                <a:ea typeface="Source Serif 4 Semi Bold" pitchFamily="34" charset="-122"/>
                <a:cs typeface="Source Serif 4 Semi Bold" pitchFamily="34" charset="-120"/>
              </a:rPr>
              <a:t>Are there products priced below 50% of MRP but rated above 4.0?</a:t>
            </a:r>
            <a:endParaRPr lang="en-US" sz="1300" dirty="0"/>
          </a:p>
        </p:txBody>
      </p:sp>
      <p:sp>
        <p:nvSpPr>
          <p:cNvPr id="31" name="Shape 29"/>
          <p:cNvSpPr/>
          <p:nvPr/>
        </p:nvSpPr>
        <p:spPr>
          <a:xfrm>
            <a:off x="782002" y="7284958"/>
            <a:ext cx="326707" cy="326708"/>
          </a:xfrm>
          <a:prstGeom prst="roundRect">
            <a:avLst>
              <a:gd name="adj" fmla="val 18672"/>
            </a:avLst>
          </a:prstGeom>
          <a:solidFill>
            <a:srgbClr val="F4D4F7"/>
          </a:solidFill>
          <a:ln w="7620">
            <a:solidFill>
              <a:srgbClr val="DABADD"/>
            </a:solidFill>
            <a:prstDash val="solid"/>
          </a:ln>
        </p:spPr>
        <p:txBody>
          <a:bodyPr/>
          <a:lstStyle/>
          <a:p>
            <a:endParaRPr lang="en-IN"/>
          </a:p>
        </p:txBody>
      </p:sp>
      <p:sp>
        <p:nvSpPr>
          <p:cNvPr id="32" name="Text 30"/>
          <p:cNvSpPr/>
          <p:nvPr/>
        </p:nvSpPr>
        <p:spPr>
          <a:xfrm>
            <a:off x="842843" y="7320201"/>
            <a:ext cx="205026" cy="256223"/>
          </a:xfrm>
          <a:prstGeom prst="rect">
            <a:avLst/>
          </a:prstGeom>
          <a:noFill/>
          <a:ln/>
        </p:spPr>
        <p:txBody>
          <a:bodyPr wrap="none" lIns="0" tIns="0" rIns="0" bIns="0" rtlCol="0" anchor="t"/>
          <a:lstStyle/>
          <a:p>
            <a:pPr marL="0" indent="0" algn="ctr">
              <a:lnSpc>
                <a:spcPts val="1600"/>
              </a:lnSpc>
              <a:buNone/>
            </a:pPr>
            <a:r>
              <a:rPr lang="en-US" sz="1600" dirty="0">
                <a:solidFill>
                  <a:srgbClr val="272525"/>
                </a:solidFill>
                <a:latin typeface="Source Serif 4 Semi Bold" pitchFamily="34" charset="0"/>
                <a:ea typeface="Source Serif 4 Semi Bold" pitchFamily="34" charset="-122"/>
                <a:cs typeface="Source Serif 4 Semi Bold" pitchFamily="34" charset="-120"/>
              </a:rPr>
              <a:t>10</a:t>
            </a:r>
            <a:endParaRPr lang="en-US" sz="1600" dirty="0"/>
          </a:p>
        </p:txBody>
      </p:sp>
      <p:sp>
        <p:nvSpPr>
          <p:cNvPr id="33" name="Text 31"/>
          <p:cNvSpPr/>
          <p:nvPr/>
        </p:nvSpPr>
        <p:spPr>
          <a:xfrm>
            <a:off x="1253847" y="7334845"/>
            <a:ext cx="7245906" cy="213479"/>
          </a:xfrm>
          <a:prstGeom prst="rect">
            <a:avLst/>
          </a:prstGeom>
          <a:noFill/>
          <a:ln/>
        </p:spPr>
        <p:txBody>
          <a:bodyPr wrap="none" lIns="0" tIns="0" rIns="0" bIns="0" rtlCol="0" anchor="t"/>
          <a:lstStyle/>
          <a:p>
            <a:pPr marL="0" indent="0" algn="l">
              <a:lnSpc>
                <a:spcPts val="1650"/>
              </a:lnSpc>
              <a:buNone/>
            </a:pPr>
            <a:r>
              <a:rPr lang="en-US" sz="1300" dirty="0">
                <a:solidFill>
                  <a:srgbClr val="272525"/>
                </a:solidFill>
                <a:latin typeface="Source Serif 4 Semi Bold" pitchFamily="34" charset="0"/>
                <a:ea typeface="Source Serif 4 Semi Bold" pitchFamily="34" charset="-122"/>
                <a:cs typeface="Source Serif 4 Semi Bold" pitchFamily="34" charset="-120"/>
              </a:rPr>
              <a:t>Which brands offer the highest discounts, meeting rating and product count thresholds?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21769" y="649843"/>
            <a:ext cx="5363170" cy="483394"/>
          </a:xfrm>
          <a:prstGeom prst="rect">
            <a:avLst/>
          </a:prstGeom>
          <a:noFill/>
          <a:ln/>
        </p:spPr>
        <p:txBody>
          <a:bodyPr wrap="none" lIns="0" tIns="0" rIns="0" bIns="0" rtlCol="0" anchor="t"/>
          <a:lstStyle/>
          <a:p>
            <a:pPr marL="0" indent="0" algn="l">
              <a:lnSpc>
                <a:spcPts val="3800"/>
              </a:lnSpc>
              <a:buNone/>
            </a:pPr>
            <a:r>
              <a:rPr lang="en-US" sz="3000" dirty="0">
                <a:solidFill>
                  <a:srgbClr val="000000"/>
                </a:solidFill>
                <a:latin typeface="Source Serif 4 Semi Bold" pitchFamily="34" charset="0"/>
                <a:ea typeface="Source Serif 4 Semi Bold" pitchFamily="34" charset="-122"/>
                <a:cs typeface="Source Serif 4 Semi Bold" pitchFamily="34" charset="-120"/>
              </a:rPr>
              <a:t>💻</a:t>
            </a:r>
            <a:r>
              <a:rPr lang="en-US" sz="3000" dirty="0">
                <a:solidFill>
                  <a:srgbClr val="D73AD7"/>
                </a:solidFill>
                <a:latin typeface="Source Serif 4 Semi Bold" pitchFamily="34" charset="0"/>
                <a:ea typeface="Source Serif 4 Semi Bold" pitchFamily="34" charset="-122"/>
                <a:cs typeface="Source Serif 4 Semi Bold" pitchFamily="34" charset="-120"/>
              </a:rPr>
              <a:t> 4. SQL Analysis &amp; Insights</a:t>
            </a:r>
            <a:endParaRPr lang="en-US" sz="3000" dirty="0"/>
          </a:p>
        </p:txBody>
      </p:sp>
      <p:sp>
        <p:nvSpPr>
          <p:cNvPr id="3" name="Text 1"/>
          <p:cNvSpPr/>
          <p:nvPr/>
        </p:nvSpPr>
        <p:spPr>
          <a:xfrm>
            <a:off x="821769" y="1379696"/>
            <a:ext cx="4721423" cy="241697"/>
          </a:xfrm>
          <a:prstGeom prst="rect">
            <a:avLst/>
          </a:prstGeom>
          <a:noFill/>
          <a:ln/>
        </p:spPr>
        <p:txBody>
          <a:bodyPr wrap="none" lIns="0" tIns="0" rIns="0" bIns="0" rtlCol="0" anchor="t"/>
          <a:lstStyle/>
          <a:p>
            <a:pPr marL="0" indent="0" algn="l">
              <a:lnSpc>
                <a:spcPts val="1900"/>
              </a:lnSpc>
              <a:buNone/>
            </a:pPr>
            <a:r>
              <a:rPr lang="en-US" sz="1500" dirty="0">
                <a:solidFill>
                  <a:srgbClr val="D73AD7"/>
                </a:solidFill>
                <a:latin typeface="Source Serif 4 Semi Bold" pitchFamily="34" charset="0"/>
                <a:ea typeface="Source Serif 4 Semi Bold" pitchFamily="34" charset="-122"/>
                <a:cs typeface="Source Serif 4 Semi Bold" pitchFamily="34" charset="-120"/>
              </a:rPr>
              <a:t>Query 1: Top 5 Brands with Highest Average Rating</a:t>
            </a:r>
            <a:endParaRPr lang="en-US" sz="1500" dirty="0"/>
          </a:p>
        </p:txBody>
      </p:sp>
      <p:sp>
        <p:nvSpPr>
          <p:cNvPr id="4" name="Shape 2"/>
          <p:cNvSpPr/>
          <p:nvPr/>
        </p:nvSpPr>
        <p:spPr>
          <a:xfrm>
            <a:off x="821769" y="1867853"/>
            <a:ext cx="12986861" cy="1824514"/>
          </a:xfrm>
          <a:prstGeom prst="roundRect">
            <a:avLst>
              <a:gd name="adj" fmla="val 3784"/>
            </a:avLst>
          </a:prstGeom>
          <a:solidFill>
            <a:srgbClr val="F2F2F2"/>
          </a:solidFill>
          <a:ln/>
        </p:spPr>
        <p:txBody>
          <a:bodyPr/>
          <a:lstStyle/>
          <a:p>
            <a:endParaRPr lang="en-IN"/>
          </a:p>
        </p:txBody>
      </p:sp>
      <p:sp>
        <p:nvSpPr>
          <p:cNvPr id="5" name="Shape 3"/>
          <p:cNvSpPr/>
          <p:nvPr/>
        </p:nvSpPr>
        <p:spPr>
          <a:xfrm>
            <a:off x="813554" y="1867853"/>
            <a:ext cx="13003292" cy="1824514"/>
          </a:xfrm>
          <a:prstGeom prst="roundRect">
            <a:avLst>
              <a:gd name="adj" fmla="val 1351"/>
            </a:avLst>
          </a:prstGeom>
          <a:solidFill>
            <a:srgbClr val="F2F2F2"/>
          </a:solidFill>
          <a:ln/>
        </p:spPr>
        <p:txBody>
          <a:bodyPr/>
          <a:lstStyle/>
          <a:p>
            <a:endParaRPr lang="en-IN"/>
          </a:p>
        </p:txBody>
      </p:sp>
      <p:sp>
        <p:nvSpPr>
          <p:cNvPr id="6" name="Text 4"/>
          <p:cNvSpPr/>
          <p:nvPr/>
        </p:nvSpPr>
        <p:spPr>
          <a:xfrm>
            <a:off x="977860" y="1991082"/>
            <a:ext cx="12674679" cy="1578054"/>
          </a:xfrm>
          <a:prstGeom prst="rect">
            <a:avLst/>
          </a:prstGeom>
          <a:noFill/>
          <a:ln/>
        </p:spPr>
        <p:txBody>
          <a:bodyPr wrap="square" lIns="0" tIns="0" rIns="0" bIns="0" rtlCol="0" anchor="t"/>
          <a:lstStyle/>
          <a:p>
            <a:r>
              <a:rPr lang="en-US" sz="1400" dirty="0"/>
              <a:t>SELECT </a:t>
            </a:r>
            <a:r>
              <a:rPr lang="en-US" sz="1400" dirty="0" err="1"/>
              <a:t>brand_name</a:t>
            </a:r>
            <a:r>
              <a:rPr lang="en-US" sz="1400" dirty="0"/>
              <a:t>, ROUND(AVG(ratings)) as </a:t>
            </a:r>
            <a:r>
              <a:rPr lang="en-US" sz="1400" dirty="0" err="1"/>
              <a:t>avg_rating</a:t>
            </a:r>
            <a:r>
              <a:rPr lang="en-US" sz="1400" dirty="0"/>
              <a:t>,, COUNT(*) AS </a:t>
            </a:r>
            <a:r>
              <a:rPr lang="en-US" sz="1400" dirty="0" err="1"/>
              <a:t>product_count</a:t>
            </a:r>
            <a:endParaRPr lang="en-US" sz="1400" dirty="0"/>
          </a:p>
          <a:p>
            <a:r>
              <a:rPr lang="en-US" sz="1400" dirty="0"/>
              <a:t>FROM </a:t>
            </a:r>
            <a:r>
              <a:rPr lang="en-US" sz="1400" dirty="0" err="1"/>
              <a:t>project_myntra</a:t>
            </a:r>
            <a:endParaRPr lang="en-US" sz="1400" dirty="0"/>
          </a:p>
          <a:p>
            <a:r>
              <a:rPr lang="en-US" sz="1400" dirty="0"/>
              <a:t>GROUP BY </a:t>
            </a:r>
            <a:r>
              <a:rPr lang="en-US" sz="1400" dirty="0" err="1"/>
              <a:t>brand_name</a:t>
            </a:r>
            <a:endParaRPr lang="en-US" sz="1400" dirty="0"/>
          </a:p>
          <a:p>
            <a:r>
              <a:rPr lang="en-US" sz="1400" dirty="0"/>
              <a:t>HAVING COUNT(*) &gt;= 10</a:t>
            </a:r>
          </a:p>
          <a:p>
            <a:r>
              <a:rPr lang="en-US" sz="1400" dirty="0"/>
              <a:t>ORDER BY </a:t>
            </a:r>
            <a:r>
              <a:rPr lang="en-US" sz="1400" dirty="0" err="1"/>
              <a:t>avg_rating</a:t>
            </a:r>
            <a:r>
              <a:rPr lang="en-US" sz="1400" dirty="0"/>
              <a:t> DESC</a:t>
            </a:r>
          </a:p>
          <a:p>
            <a:r>
              <a:rPr lang="en-US" sz="1400" dirty="0"/>
              <a:t>LIMIT 5;</a:t>
            </a:r>
          </a:p>
        </p:txBody>
      </p:sp>
      <p:sp>
        <p:nvSpPr>
          <p:cNvPr id="7" name="Text 5"/>
          <p:cNvSpPr/>
          <p:nvPr/>
        </p:nvSpPr>
        <p:spPr>
          <a:xfrm>
            <a:off x="821769" y="3877270"/>
            <a:ext cx="12986861" cy="270629"/>
          </a:xfrm>
          <a:prstGeom prst="rect">
            <a:avLst/>
          </a:prstGeom>
          <a:noFill/>
          <a:ln/>
        </p:spPr>
        <p:txBody>
          <a:bodyPr wrap="none" lIns="0" tIns="0" rIns="0" bIns="0" rtlCol="0" anchor="t"/>
          <a:lstStyle/>
          <a:p>
            <a:pPr marL="0" indent="0" algn="l">
              <a:lnSpc>
                <a:spcPts val="2050"/>
              </a:lnSpc>
              <a:buNone/>
            </a:pPr>
            <a:r>
              <a:rPr lang="en-US" sz="1250" dirty="0">
                <a:solidFill>
                  <a:srgbClr val="000000"/>
                </a:solidFill>
                <a:latin typeface="Source Sans 3" pitchFamily="34" charset="0"/>
                <a:ea typeface="Source Sans 3" pitchFamily="34" charset="-122"/>
                <a:cs typeface="Source Sans 3" pitchFamily="34" charset="-120"/>
              </a:rPr>
              <a:t>🔹</a:t>
            </a:r>
            <a:r>
              <a:rPr lang="en-US" sz="1250" dirty="0">
                <a:solidFill>
                  <a:srgbClr val="272525"/>
                </a:solidFill>
                <a:latin typeface="Source Sans 3" pitchFamily="34" charset="0"/>
                <a:ea typeface="Source Sans 3" pitchFamily="34" charset="-122"/>
                <a:cs typeface="Source Sans 3" pitchFamily="34" charset="-120"/>
              </a:rPr>
              <a:t> Finds most loved brands based on customer ratings.</a:t>
            </a:r>
            <a:endParaRPr lang="en-US" sz="1250" dirty="0"/>
          </a:p>
        </p:txBody>
      </p:sp>
      <p:sp>
        <p:nvSpPr>
          <p:cNvPr id="8" name="Text 6"/>
          <p:cNvSpPr/>
          <p:nvPr/>
        </p:nvSpPr>
        <p:spPr>
          <a:xfrm>
            <a:off x="821769" y="4332803"/>
            <a:ext cx="12986861" cy="270629"/>
          </a:xfrm>
          <a:prstGeom prst="rect">
            <a:avLst/>
          </a:prstGeom>
          <a:noFill/>
          <a:ln/>
        </p:spPr>
        <p:txBody>
          <a:bodyPr wrap="none" lIns="0" tIns="0" rIns="0" bIns="0" rtlCol="0" anchor="t"/>
          <a:lstStyle/>
          <a:p>
            <a:pPr marL="0" indent="0" algn="l">
              <a:lnSpc>
                <a:spcPts val="2050"/>
              </a:lnSpc>
              <a:buNone/>
            </a:pPr>
            <a:r>
              <a:rPr lang="en-US" sz="1250" dirty="0">
                <a:solidFill>
                  <a:srgbClr val="000000"/>
                </a:solidFill>
                <a:latin typeface="Source Sans 3" pitchFamily="34" charset="0"/>
                <a:ea typeface="Source Sans 3" pitchFamily="34" charset="-122"/>
                <a:cs typeface="Source Sans 3" pitchFamily="34" charset="-120"/>
              </a:rPr>
              <a:t>✅</a:t>
            </a:r>
            <a:r>
              <a:rPr lang="en-US" sz="1250" dirty="0">
                <a:solidFill>
                  <a:srgbClr val="E851B2"/>
                </a:solidFill>
                <a:latin typeface="Source Sans 3" pitchFamily="34" charset="0"/>
                <a:ea typeface="Source Sans 3" pitchFamily="34" charset="-122"/>
                <a:cs typeface="Source Sans 3" pitchFamily="34" charset="-120"/>
              </a:rPr>
              <a:t> Insight: Identifies consistently high-rated brands with strong customer trust.</a:t>
            </a:r>
            <a:endParaRPr lang="en-US" sz="1250" dirty="0"/>
          </a:p>
        </p:txBody>
      </p:sp>
      <p:sp>
        <p:nvSpPr>
          <p:cNvPr id="9" name="Shape 7"/>
          <p:cNvSpPr/>
          <p:nvPr/>
        </p:nvSpPr>
        <p:spPr>
          <a:xfrm>
            <a:off x="821769" y="4870506"/>
            <a:ext cx="12986861" cy="28099"/>
          </a:xfrm>
          <a:prstGeom prst="rect">
            <a:avLst/>
          </a:prstGeom>
          <a:solidFill>
            <a:srgbClr val="272525">
              <a:alpha val="50000"/>
            </a:srgbClr>
          </a:solidFill>
          <a:ln/>
        </p:spPr>
        <p:txBody>
          <a:bodyPr/>
          <a:lstStyle/>
          <a:p>
            <a:endParaRPr lang="en-IN"/>
          </a:p>
        </p:txBody>
      </p:sp>
      <p:sp>
        <p:nvSpPr>
          <p:cNvPr id="10" name="Text 8"/>
          <p:cNvSpPr/>
          <p:nvPr/>
        </p:nvSpPr>
        <p:spPr>
          <a:xfrm>
            <a:off x="821769" y="5145048"/>
            <a:ext cx="4506158" cy="241697"/>
          </a:xfrm>
          <a:prstGeom prst="rect">
            <a:avLst/>
          </a:prstGeom>
          <a:noFill/>
          <a:ln/>
        </p:spPr>
        <p:txBody>
          <a:bodyPr wrap="none" lIns="0" tIns="0" rIns="0" bIns="0" rtlCol="0" anchor="t"/>
          <a:lstStyle/>
          <a:p>
            <a:pPr marL="0" indent="0" algn="l">
              <a:lnSpc>
                <a:spcPts val="1900"/>
              </a:lnSpc>
              <a:buNone/>
            </a:pPr>
            <a:r>
              <a:rPr lang="en-US" sz="1500" dirty="0">
                <a:solidFill>
                  <a:srgbClr val="D73AD7"/>
                </a:solidFill>
                <a:latin typeface="Source Serif 4 Semi Bold" pitchFamily="34" charset="0"/>
                <a:ea typeface="Source Serif 4 Semi Bold" pitchFamily="34" charset="-122"/>
                <a:cs typeface="Source Serif 4 Semi Bold" pitchFamily="34" charset="-120"/>
              </a:rPr>
              <a:t>Query 2: High Discount but Low Rating Products</a:t>
            </a:r>
            <a:endParaRPr lang="en-US" sz="1500" dirty="0"/>
          </a:p>
        </p:txBody>
      </p:sp>
      <p:sp>
        <p:nvSpPr>
          <p:cNvPr id="11" name="Shape 9"/>
          <p:cNvSpPr/>
          <p:nvPr/>
        </p:nvSpPr>
        <p:spPr>
          <a:xfrm>
            <a:off x="821769" y="5633204"/>
            <a:ext cx="12986861" cy="1035487"/>
          </a:xfrm>
          <a:prstGeom prst="roundRect">
            <a:avLst>
              <a:gd name="adj" fmla="val 6667"/>
            </a:avLst>
          </a:prstGeom>
          <a:solidFill>
            <a:srgbClr val="F2F2F2"/>
          </a:solidFill>
          <a:ln/>
        </p:spPr>
        <p:txBody>
          <a:bodyPr/>
          <a:lstStyle/>
          <a:p>
            <a:endParaRPr lang="en-IN"/>
          </a:p>
        </p:txBody>
      </p:sp>
      <p:sp>
        <p:nvSpPr>
          <p:cNvPr id="12" name="Shape 10"/>
          <p:cNvSpPr/>
          <p:nvPr/>
        </p:nvSpPr>
        <p:spPr>
          <a:xfrm>
            <a:off x="813554" y="5633204"/>
            <a:ext cx="13003292" cy="1035487"/>
          </a:xfrm>
          <a:prstGeom prst="roundRect">
            <a:avLst>
              <a:gd name="adj" fmla="val 2381"/>
            </a:avLst>
          </a:prstGeom>
          <a:solidFill>
            <a:srgbClr val="F2F2F2"/>
          </a:solidFill>
          <a:ln/>
        </p:spPr>
        <p:txBody>
          <a:bodyPr/>
          <a:lstStyle/>
          <a:p>
            <a:endParaRPr lang="en-IN"/>
          </a:p>
        </p:txBody>
      </p:sp>
      <p:sp>
        <p:nvSpPr>
          <p:cNvPr id="13" name="Text 11"/>
          <p:cNvSpPr/>
          <p:nvPr/>
        </p:nvSpPr>
        <p:spPr>
          <a:xfrm>
            <a:off x="977860" y="5756434"/>
            <a:ext cx="12674679" cy="789027"/>
          </a:xfrm>
          <a:prstGeom prst="rect">
            <a:avLst/>
          </a:prstGeom>
          <a:noFill/>
          <a:ln/>
        </p:spPr>
        <p:txBody>
          <a:bodyPr wrap="square" lIns="0" tIns="0" rIns="0" bIns="0" rtlCol="0" anchor="t"/>
          <a:lstStyle/>
          <a:p>
            <a:r>
              <a:rPr lang="en-US" sz="1400" dirty="0">
                <a:highlight>
                  <a:srgbClr val="F2F2F2"/>
                </a:highlight>
              </a:rPr>
              <a:t>SELECT </a:t>
            </a:r>
            <a:r>
              <a:rPr lang="en-US" sz="1400" dirty="0" err="1">
                <a:highlight>
                  <a:srgbClr val="F2F2F2"/>
                </a:highlight>
              </a:rPr>
              <a:t>brand_name</a:t>
            </a:r>
            <a:r>
              <a:rPr lang="en-US" sz="1400" dirty="0">
                <a:highlight>
                  <a:srgbClr val="F2F2F2"/>
                </a:highlight>
              </a:rPr>
              <a:t>, </a:t>
            </a:r>
            <a:r>
              <a:rPr lang="en-US" sz="1400" dirty="0" err="1">
                <a:highlight>
                  <a:srgbClr val="F2F2F2"/>
                </a:highlight>
              </a:rPr>
              <a:t>pants_description</a:t>
            </a:r>
            <a:r>
              <a:rPr lang="en-US" sz="1400" dirty="0">
                <a:highlight>
                  <a:srgbClr val="F2F2F2"/>
                </a:highlight>
              </a:rPr>
              <a:t>, </a:t>
            </a:r>
          </a:p>
          <a:p>
            <a:r>
              <a:rPr lang="en-US" sz="1400" dirty="0"/>
              <a:t>CONCAT(ROUND(</a:t>
            </a:r>
            <a:r>
              <a:rPr lang="en-US" sz="1400" dirty="0" err="1"/>
              <a:t>discount_percent</a:t>
            </a:r>
            <a:r>
              <a:rPr lang="en-US" sz="1400" dirty="0"/>
              <a:t> * 100, 0), '%') AS </a:t>
            </a:r>
            <a:r>
              <a:rPr lang="en-US" sz="1400" dirty="0" err="1"/>
              <a:t>discount_percent</a:t>
            </a:r>
            <a:r>
              <a:rPr lang="en-US" sz="1400" dirty="0">
                <a:highlight>
                  <a:srgbClr val="F2F2F2"/>
                </a:highlight>
              </a:rPr>
              <a:t>, ratings</a:t>
            </a:r>
          </a:p>
          <a:p>
            <a:r>
              <a:rPr lang="en-US" sz="1400" dirty="0">
                <a:highlight>
                  <a:srgbClr val="F2F2F2"/>
                </a:highlight>
              </a:rPr>
              <a:t>FROM </a:t>
            </a:r>
            <a:r>
              <a:rPr lang="en-US" sz="1400" dirty="0" err="1">
                <a:highlight>
                  <a:srgbClr val="F2F2F2"/>
                </a:highlight>
              </a:rPr>
              <a:t>project_myntra</a:t>
            </a:r>
            <a:endParaRPr lang="en-US" sz="1400" dirty="0">
              <a:highlight>
                <a:srgbClr val="F2F2F2"/>
              </a:highlight>
            </a:endParaRPr>
          </a:p>
          <a:p>
            <a:r>
              <a:rPr lang="en-US" sz="1400" dirty="0">
                <a:highlight>
                  <a:srgbClr val="F2F2F2"/>
                </a:highlight>
              </a:rPr>
              <a:t>WHERE </a:t>
            </a:r>
            <a:r>
              <a:rPr lang="en-US" sz="1400" dirty="0" err="1">
                <a:highlight>
                  <a:srgbClr val="F2F2F2"/>
                </a:highlight>
              </a:rPr>
              <a:t>discount_percent</a:t>
            </a:r>
            <a:r>
              <a:rPr lang="en-US" sz="1400" dirty="0">
                <a:highlight>
                  <a:srgbClr val="F2F2F2"/>
                </a:highlight>
              </a:rPr>
              <a:t> &gt; 0.6 AND ratings &lt; 4.0;</a:t>
            </a:r>
          </a:p>
        </p:txBody>
      </p:sp>
      <p:sp>
        <p:nvSpPr>
          <p:cNvPr id="14" name="Text 12"/>
          <p:cNvSpPr/>
          <p:nvPr/>
        </p:nvSpPr>
        <p:spPr>
          <a:xfrm>
            <a:off x="821769" y="6853595"/>
            <a:ext cx="12986861" cy="270629"/>
          </a:xfrm>
          <a:prstGeom prst="rect">
            <a:avLst/>
          </a:prstGeom>
          <a:noFill/>
          <a:ln/>
        </p:spPr>
        <p:txBody>
          <a:bodyPr wrap="none" lIns="0" tIns="0" rIns="0" bIns="0" rtlCol="0" anchor="t"/>
          <a:lstStyle/>
          <a:p>
            <a:pPr marL="0" indent="0" algn="l">
              <a:lnSpc>
                <a:spcPts val="2050"/>
              </a:lnSpc>
              <a:buNone/>
            </a:pPr>
            <a:r>
              <a:rPr lang="en-US" sz="1250" dirty="0">
                <a:solidFill>
                  <a:srgbClr val="000000"/>
                </a:solidFill>
                <a:latin typeface="Source Sans 3" pitchFamily="34" charset="0"/>
                <a:ea typeface="Source Sans 3" pitchFamily="34" charset="-122"/>
                <a:cs typeface="Source Sans 3" pitchFamily="34" charset="-120"/>
              </a:rPr>
              <a:t>🔹</a:t>
            </a:r>
            <a:r>
              <a:rPr lang="en-US" sz="1250" dirty="0">
                <a:solidFill>
                  <a:srgbClr val="272525"/>
                </a:solidFill>
                <a:latin typeface="Source Sans 3" pitchFamily="34" charset="0"/>
                <a:ea typeface="Source Sans 3" pitchFamily="34" charset="-122"/>
                <a:cs typeface="Source Sans 3" pitchFamily="34" charset="-120"/>
              </a:rPr>
              <a:t> Detects heavily discounted items with poor ratings.</a:t>
            </a:r>
            <a:endParaRPr lang="en-US" sz="1250" dirty="0"/>
          </a:p>
        </p:txBody>
      </p:sp>
      <p:sp>
        <p:nvSpPr>
          <p:cNvPr id="15" name="Text 13"/>
          <p:cNvSpPr/>
          <p:nvPr/>
        </p:nvSpPr>
        <p:spPr>
          <a:xfrm>
            <a:off x="821769" y="7309128"/>
            <a:ext cx="12986861" cy="270629"/>
          </a:xfrm>
          <a:prstGeom prst="rect">
            <a:avLst/>
          </a:prstGeom>
          <a:noFill/>
          <a:ln/>
        </p:spPr>
        <p:txBody>
          <a:bodyPr wrap="none" lIns="0" tIns="0" rIns="0" bIns="0" rtlCol="0" anchor="t"/>
          <a:lstStyle/>
          <a:p>
            <a:pPr marL="0" indent="0" algn="l">
              <a:lnSpc>
                <a:spcPts val="2050"/>
              </a:lnSpc>
              <a:buNone/>
            </a:pPr>
            <a:r>
              <a:rPr lang="en-US" sz="1250" dirty="0">
                <a:solidFill>
                  <a:srgbClr val="000000"/>
                </a:solidFill>
                <a:latin typeface="Source Sans 3" pitchFamily="34" charset="0"/>
                <a:ea typeface="Source Sans 3" pitchFamily="34" charset="-122"/>
                <a:cs typeface="Source Sans 3" pitchFamily="34" charset="-120"/>
              </a:rPr>
              <a:t>✅</a:t>
            </a:r>
            <a:r>
              <a:rPr lang="en-US" sz="1250" dirty="0">
                <a:solidFill>
                  <a:srgbClr val="272525"/>
                </a:solidFill>
                <a:latin typeface="Source Sans 3" pitchFamily="34" charset="0"/>
                <a:ea typeface="Source Sans 3" pitchFamily="34" charset="-122"/>
                <a:cs typeface="Source Sans 3" pitchFamily="34" charset="-120"/>
              </a:rPr>
              <a:t> Insight: May indicate overstocked or low-quality items.</a:t>
            </a:r>
            <a:endParaRPr lang="en-US" sz="1250" dirty="0"/>
          </a:p>
        </p:txBody>
      </p:sp>
      <p:pic>
        <p:nvPicPr>
          <p:cNvPr id="17" name="Picture 16">
            <a:extLst>
              <a:ext uri="{FF2B5EF4-FFF2-40B4-BE49-F238E27FC236}">
                <a16:creationId xmlns:a16="http://schemas.microsoft.com/office/drawing/2014/main" id="{679DE84F-FF56-7BEB-95F2-AC44C3B0BD87}"/>
              </a:ext>
            </a:extLst>
          </p:cNvPr>
          <p:cNvPicPr>
            <a:picLocks noChangeAspect="1"/>
          </p:cNvPicPr>
          <p:nvPr/>
        </p:nvPicPr>
        <p:blipFill>
          <a:blip r:embed="rId3"/>
          <a:stretch>
            <a:fillRect/>
          </a:stretch>
        </p:blipFill>
        <p:spPr>
          <a:xfrm>
            <a:off x="9217909" y="2033231"/>
            <a:ext cx="3802286" cy="1493755"/>
          </a:xfrm>
          <a:prstGeom prst="rect">
            <a:avLst/>
          </a:prstGeom>
        </p:spPr>
      </p:pic>
      <p:pic>
        <p:nvPicPr>
          <p:cNvPr id="19" name="Picture 18">
            <a:extLst>
              <a:ext uri="{FF2B5EF4-FFF2-40B4-BE49-F238E27FC236}">
                <a16:creationId xmlns:a16="http://schemas.microsoft.com/office/drawing/2014/main" id="{76628D97-7B9F-0761-71BE-55075042CBD9}"/>
              </a:ext>
            </a:extLst>
          </p:cNvPr>
          <p:cNvPicPr>
            <a:picLocks noChangeAspect="1"/>
          </p:cNvPicPr>
          <p:nvPr/>
        </p:nvPicPr>
        <p:blipFill>
          <a:blip r:embed="rId4"/>
          <a:stretch>
            <a:fillRect/>
          </a:stretch>
        </p:blipFill>
        <p:spPr>
          <a:xfrm>
            <a:off x="10191963" y="5677672"/>
            <a:ext cx="3538621" cy="946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9141" y="589240"/>
            <a:ext cx="5690235" cy="416838"/>
          </a:xfrm>
          <a:prstGeom prst="rect">
            <a:avLst/>
          </a:prstGeom>
          <a:noFill/>
          <a:ln/>
        </p:spPr>
        <p:txBody>
          <a:bodyPr wrap="none" lIns="0" tIns="0" rIns="0" bIns="0" rtlCol="0" anchor="t"/>
          <a:lstStyle/>
          <a:p>
            <a:pPr marL="0" indent="0" algn="l">
              <a:lnSpc>
                <a:spcPts val="3200"/>
              </a:lnSpc>
              <a:buNone/>
            </a:pPr>
            <a:r>
              <a:rPr lang="en-US" sz="2550" dirty="0">
                <a:solidFill>
                  <a:srgbClr val="000000"/>
                </a:solidFill>
                <a:latin typeface="Source Serif 4 Semi Bold" pitchFamily="34" charset="0"/>
                <a:ea typeface="Source Serif 4 Semi Bold" pitchFamily="34" charset="-122"/>
                <a:cs typeface="Source Serif 4 Semi Bold" pitchFamily="34" charset="-120"/>
              </a:rPr>
              <a:t>💻</a:t>
            </a:r>
            <a:r>
              <a:rPr lang="en-US" sz="2550" dirty="0">
                <a:solidFill>
                  <a:srgbClr val="D73AD7"/>
                </a:solidFill>
                <a:latin typeface="Source Serif 4 Semi Bold" pitchFamily="34" charset="0"/>
                <a:ea typeface="Source Serif 4 Semi Bold" pitchFamily="34" charset="-122"/>
                <a:cs typeface="Source Serif 4 Semi Bold" pitchFamily="34" charset="-120"/>
              </a:rPr>
              <a:t> 4. SQL Analysis &amp; Insights (Cont.)</a:t>
            </a:r>
            <a:endParaRPr lang="en-US" sz="2550" dirty="0"/>
          </a:p>
        </p:txBody>
      </p:sp>
      <p:sp>
        <p:nvSpPr>
          <p:cNvPr id="3" name="Text 1"/>
          <p:cNvSpPr/>
          <p:nvPr/>
        </p:nvSpPr>
        <p:spPr>
          <a:xfrm>
            <a:off x="749141" y="1214676"/>
            <a:ext cx="3360182" cy="204549"/>
          </a:xfrm>
          <a:prstGeom prst="rect">
            <a:avLst/>
          </a:prstGeom>
          <a:noFill/>
          <a:ln/>
        </p:spPr>
        <p:txBody>
          <a:bodyPr wrap="none" lIns="0" tIns="0" rIns="0" bIns="0" rtlCol="0" anchor="t"/>
          <a:lstStyle/>
          <a:p>
            <a:pPr marL="0" indent="0" algn="l">
              <a:lnSpc>
                <a:spcPts val="1600"/>
              </a:lnSpc>
              <a:buNone/>
            </a:pPr>
            <a:r>
              <a:rPr lang="en-US" sz="1250" dirty="0">
                <a:solidFill>
                  <a:srgbClr val="D73AD7"/>
                </a:solidFill>
                <a:latin typeface="Source Serif 4 Semi Bold" pitchFamily="34" charset="0"/>
                <a:ea typeface="Source Serif 4 Semi Bold" pitchFamily="34" charset="-122"/>
                <a:cs typeface="Source Serif 4 Semi Bold" pitchFamily="34" charset="-120"/>
              </a:rPr>
              <a:t>Query 3: Top 3 Revenue Generating Brands</a:t>
            </a:r>
            <a:endParaRPr lang="en-US" sz="1250" dirty="0"/>
          </a:p>
        </p:txBody>
      </p:sp>
      <p:sp>
        <p:nvSpPr>
          <p:cNvPr id="4" name="Shape 2"/>
          <p:cNvSpPr/>
          <p:nvPr/>
        </p:nvSpPr>
        <p:spPr>
          <a:xfrm>
            <a:off x="749141" y="1627822"/>
            <a:ext cx="13132118" cy="1321832"/>
          </a:xfrm>
          <a:prstGeom prst="roundRect">
            <a:avLst>
              <a:gd name="adj" fmla="val 4421"/>
            </a:avLst>
          </a:prstGeom>
          <a:solidFill>
            <a:srgbClr val="F2F2F2"/>
          </a:solidFill>
          <a:ln/>
        </p:spPr>
        <p:txBody>
          <a:bodyPr/>
          <a:lstStyle/>
          <a:p>
            <a:endParaRPr lang="en-IN"/>
          </a:p>
        </p:txBody>
      </p:sp>
      <p:sp>
        <p:nvSpPr>
          <p:cNvPr id="5" name="Shape 3"/>
          <p:cNvSpPr/>
          <p:nvPr/>
        </p:nvSpPr>
        <p:spPr>
          <a:xfrm>
            <a:off x="742236" y="1627822"/>
            <a:ext cx="13145929" cy="1321832"/>
          </a:xfrm>
          <a:prstGeom prst="roundRect">
            <a:avLst>
              <a:gd name="adj" fmla="val 1579"/>
            </a:avLst>
          </a:prstGeom>
          <a:solidFill>
            <a:srgbClr val="F2F2F2"/>
          </a:solidFill>
          <a:ln/>
        </p:spPr>
        <p:txBody>
          <a:bodyPr/>
          <a:lstStyle/>
          <a:p>
            <a:endParaRPr lang="en-IN"/>
          </a:p>
        </p:txBody>
      </p:sp>
      <p:sp>
        <p:nvSpPr>
          <p:cNvPr id="6" name="Text 4"/>
          <p:cNvSpPr/>
          <p:nvPr/>
        </p:nvSpPr>
        <p:spPr>
          <a:xfrm>
            <a:off x="881301" y="1732121"/>
            <a:ext cx="12867799" cy="1113234"/>
          </a:xfrm>
          <a:prstGeom prst="rect">
            <a:avLst/>
          </a:prstGeom>
          <a:noFill/>
          <a:ln/>
        </p:spPr>
        <p:txBody>
          <a:bodyPr wrap="square" lIns="0" tIns="0" rIns="0" bIns="0" rtlCol="0" anchor="t"/>
          <a:lstStyle/>
          <a:p>
            <a:r>
              <a:rPr lang="en-US" sz="1400" dirty="0">
                <a:highlight>
                  <a:srgbClr val="F2F2F2"/>
                </a:highlight>
              </a:rPr>
              <a:t>SELECT </a:t>
            </a:r>
            <a:r>
              <a:rPr lang="en-US" sz="1400" dirty="0" err="1">
                <a:highlight>
                  <a:srgbClr val="F2F2F2"/>
                </a:highlight>
              </a:rPr>
              <a:t>brand_name</a:t>
            </a:r>
            <a:r>
              <a:rPr lang="en-US" sz="1400" dirty="0">
                <a:highlight>
                  <a:srgbClr val="F2F2F2"/>
                </a:highlight>
              </a:rPr>
              <a:t>, SUM(price * </a:t>
            </a:r>
            <a:r>
              <a:rPr lang="en-US" sz="1400" dirty="0" err="1">
                <a:highlight>
                  <a:srgbClr val="F2F2F2"/>
                </a:highlight>
              </a:rPr>
              <a:t>number_of_ratings</a:t>
            </a:r>
            <a:r>
              <a:rPr lang="en-US" sz="1400" dirty="0">
                <a:highlight>
                  <a:srgbClr val="F2F2F2"/>
                </a:highlight>
              </a:rPr>
              <a:t>) AS </a:t>
            </a:r>
            <a:r>
              <a:rPr lang="en-US" sz="1400" dirty="0" err="1">
                <a:highlight>
                  <a:srgbClr val="F2F2F2"/>
                </a:highlight>
              </a:rPr>
              <a:t>total_revenue</a:t>
            </a:r>
            <a:endParaRPr lang="en-US" sz="1400" dirty="0">
              <a:highlight>
                <a:srgbClr val="F2F2F2"/>
              </a:highlight>
            </a:endParaRPr>
          </a:p>
          <a:p>
            <a:r>
              <a:rPr lang="en-US" sz="1400" dirty="0">
                <a:highlight>
                  <a:srgbClr val="F2F2F2"/>
                </a:highlight>
              </a:rPr>
              <a:t>FROM </a:t>
            </a:r>
            <a:r>
              <a:rPr lang="en-US" sz="1400" dirty="0" err="1">
                <a:highlight>
                  <a:srgbClr val="F2F2F2"/>
                </a:highlight>
              </a:rPr>
              <a:t>project_myntra</a:t>
            </a:r>
            <a:endParaRPr lang="en-US" sz="1400" dirty="0">
              <a:highlight>
                <a:srgbClr val="F2F2F2"/>
              </a:highlight>
            </a:endParaRPr>
          </a:p>
          <a:p>
            <a:r>
              <a:rPr lang="en-US" sz="1400" dirty="0">
                <a:highlight>
                  <a:srgbClr val="F2F2F2"/>
                </a:highlight>
              </a:rPr>
              <a:t>GROUP BY </a:t>
            </a:r>
            <a:r>
              <a:rPr lang="en-US" sz="1400" dirty="0" err="1">
                <a:highlight>
                  <a:srgbClr val="F2F2F2"/>
                </a:highlight>
              </a:rPr>
              <a:t>brand_name</a:t>
            </a:r>
            <a:endParaRPr lang="en-US" sz="1400" dirty="0">
              <a:highlight>
                <a:srgbClr val="F2F2F2"/>
              </a:highlight>
            </a:endParaRPr>
          </a:p>
          <a:p>
            <a:r>
              <a:rPr lang="en-US" sz="1400" dirty="0">
                <a:highlight>
                  <a:srgbClr val="F2F2F2"/>
                </a:highlight>
              </a:rPr>
              <a:t>ORDER BY </a:t>
            </a:r>
            <a:r>
              <a:rPr lang="en-US" sz="1400" dirty="0" err="1">
                <a:highlight>
                  <a:srgbClr val="F2F2F2"/>
                </a:highlight>
              </a:rPr>
              <a:t>total_revenue</a:t>
            </a:r>
            <a:r>
              <a:rPr lang="en-US" sz="1400" dirty="0">
                <a:highlight>
                  <a:srgbClr val="F2F2F2"/>
                </a:highlight>
              </a:rPr>
              <a:t> DESC</a:t>
            </a:r>
          </a:p>
          <a:p>
            <a:r>
              <a:rPr lang="en-US" sz="1400" dirty="0">
                <a:highlight>
                  <a:srgbClr val="F2F2F2"/>
                </a:highlight>
              </a:rPr>
              <a:t>LIMIT 3;</a:t>
            </a:r>
          </a:p>
        </p:txBody>
      </p:sp>
      <p:sp>
        <p:nvSpPr>
          <p:cNvPr id="7" name="Text 5"/>
          <p:cNvSpPr/>
          <p:nvPr/>
        </p:nvSpPr>
        <p:spPr>
          <a:xfrm>
            <a:off x="749141" y="3106103"/>
            <a:ext cx="13132118" cy="230267"/>
          </a:xfrm>
          <a:prstGeom prst="rect">
            <a:avLst/>
          </a:prstGeom>
          <a:noFill/>
          <a:ln/>
        </p:spPr>
        <p:txBody>
          <a:bodyPr wrap="none" lIns="0" tIns="0" rIns="0" bIns="0" rtlCol="0" anchor="t"/>
          <a:lstStyle/>
          <a:p>
            <a:pPr marL="0" indent="0" algn="l">
              <a:lnSpc>
                <a:spcPts val="1750"/>
              </a:lnSpc>
              <a:buNone/>
            </a:pPr>
            <a:r>
              <a:rPr lang="en-US" sz="1050" dirty="0">
                <a:solidFill>
                  <a:srgbClr val="000000"/>
                </a:solidFill>
                <a:latin typeface="Source Sans 3" pitchFamily="34" charset="0"/>
                <a:ea typeface="Source Sans 3" pitchFamily="34" charset="-122"/>
                <a:cs typeface="Source Sans 3" pitchFamily="34" charset="-120"/>
              </a:rPr>
              <a:t>🔹</a:t>
            </a:r>
            <a:r>
              <a:rPr lang="en-US" sz="1050" dirty="0">
                <a:solidFill>
                  <a:srgbClr val="272525"/>
                </a:solidFill>
                <a:latin typeface="Source Sans 3" pitchFamily="34" charset="0"/>
                <a:ea typeface="Source Sans 3" pitchFamily="34" charset="-122"/>
                <a:cs typeface="Source Sans 3" pitchFamily="34" charset="-120"/>
              </a:rPr>
              <a:t> Estimates brand performance based on sales and engagement.</a:t>
            </a:r>
            <a:endParaRPr lang="en-US" sz="1050" dirty="0"/>
          </a:p>
        </p:txBody>
      </p:sp>
      <p:sp>
        <p:nvSpPr>
          <p:cNvPr id="8" name="Text 6"/>
          <p:cNvSpPr/>
          <p:nvPr/>
        </p:nvSpPr>
        <p:spPr>
          <a:xfrm>
            <a:off x="749141" y="3492818"/>
            <a:ext cx="13132118" cy="230267"/>
          </a:xfrm>
          <a:prstGeom prst="rect">
            <a:avLst/>
          </a:prstGeom>
          <a:noFill/>
          <a:ln/>
        </p:spPr>
        <p:txBody>
          <a:bodyPr wrap="none" lIns="0" tIns="0" rIns="0" bIns="0" rtlCol="0" anchor="t"/>
          <a:lstStyle/>
          <a:p>
            <a:pPr marL="0" indent="0" algn="l">
              <a:lnSpc>
                <a:spcPts val="1750"/>
              </a:lnSpc>
              <a:buNone/>
            </a:pPr>
            <a:r>
              <a:rPr lang="en-US" sz="1050" dirty="0">
                <a:solidFill>
                  <a:srgbClr val="000000"/>
                </a:solidFill>
                <a:latin typeface="Source Sans 3" pitchFamily="34" charset="0"/>
                <a:ea typeface="Source Sans 3" pitchFamily="34" charset="-122"/>
                <a:cs typeface="Source Sans 3" pitchFamily="34" charset="-120"/>
              </a:rPr>
              <a:t>✅</a:t>
            </a:r>
            <a:r>
              <a:rPr lang="en-US" sz="1050" dirty="0">
                <a:solidFill>
                  <a:srgbClr val="E851B2"/>
                </a:solidFill>
                <a:latin typeface="Source Sans 3" pitchFamily="34" charset="0"/>
                <a:ea typeface="Source Sans 3" pitchFamily="34" charset="-122"/>
                <a:cs typeface="Source Sans 3" pitchFamily="34" charset="-120"/>
              </a:rPr>
              <a:t> Insight: Reveals financially dominant brands on the platform.</a:t>
            </a:r>
            <a:endParaRPr lang="en-US" sz="1050" dirty="0"/>
          </a:p>
        </p:txBody>
      </p:sp>
      <p:sp>
        <p:nvSpPr>
          <p:cNvPr id="9" name="Shape 7"/>
          <p:cNvSpPr/>
          <p:nvPr/>
        </p:nvSpPr>
        <p:spPr>
          <a:xfrm>
            <a:off x="749141" y="3949085"/>
            <a:ext cx="13132118" cy="25003"/>
          </a:xfrm>
          <a:prstGeom prst="rect">
            <a:avLst/>
          </a:prstGeom>
          <a:solidFill>
            <a:srgbClr val="272525">
              <a:alpha val="50000"/>
            </a:srgbClr>
          </a:solidFill>
          <a:ln/>
        </p:spPr>
        <p:txBody>
          <a:bodyPr/>
          <a:lstStyle/>
          <a:p>
            <a:endParaRPr lang="en-IN"/>
          </a:p>
        </p:txBody>
      </p:sp>
      <p:sp>
        <p:nvSpPr>
          <p:cNvPr id="10" name="Text 8"/>
          <p:cNvSpPr/>
          <p:nvPr/>
        </p:nvSpPr>
        <p:spPr>
          <a:xfrm>
            <a:off x="749141" y="4182666"/>
            <a:ext cx="4101227" cy="204549"/>
          </a:xfrm>
          <a:prstGeom prst="rect">
            <a:avLst/>
          </a:prstGeom>
          <a:noFill/>
          <a:ln/>
        </p:spPr>
        <p:txBody>
          <a:bodyPr wrap="none" lIns="0" tIns="0" rIns="0" bIns="0" rtlCol="0" anchor="t"/>
          <a:lstStyle/>
          <a:p>
            <a:pPr marL="0" indent="0" algn="l">
              <a:lnSpc>
                <a:spcPts val="1600"/>
              </a:lnSpc>
              <a:buNone/>
            </a:pPr>
            <a:r>
              <a:rPr lang="en-US" sz="1250" dirty="0">
                <a:solidFill>
                  <a:srgbClr val="D73AD7"/>
                </a:solidFill>
                <a:latin typeface="Source Serif 4 Semi Bold" pitchFamily="34" charset="0"/>
                <a:ea typeface="Source Serif 4 Semi Bold" pitchFamily="34" charset="-122"/>
                <a:cs typeface="Source Serif 4 Semi Bold" pitchFamily="34" charset="-120"/>
              </a:rPr>
              <a:t>Query 4: Brands with Higher Price but Lower Rating</a:t>
            </a:r>
            <a:endParaRPr lang="en-US" sz="1250" dirty="0"/>
          </a:p>
        </p:txBody>
      </p:sp>
      <p:sp>
        <p:nvSpPr>
          <p:cNvPr id="11" name="Shape 9"/>
          <p:cNvSpPr/>
          <p:nvPr/>
        </p:nvSpPr>
        <p:spPr>
          <a:xfrm>
            <a:off x="749141" y="4595813"/>
            <a:ext cx="13132118" cy="2657713"/>
          </a:xfrm>
          <a:prstGeom prst="roundRect">
            <a:avLst>
              <a:gd name="adj" fmla="val 2199"/>
            </a:avLst>
          </a:prstGeom>
          <a:solidFill>
            <a:srgbClr val="F2F2F2"/>
          </a:solidFill>
          <a:ln/>
        </p:spPr>
        <p:txBody>
          <a:bodyPr/>
          <a:lstStyle/>
          <a:p>
            <a:endParaRPr lang="en-IN"/>
          </a:p>
        </p:txBody>
      </p:sp>
      <p:sp>
        <p:nvSpPr>
          <p:cNvPr id="12" name="Shape 10"/>
          <p:cNvSpPr/>
          <p:nvPr/>
        </p:nvSpPr>
        <p:spPr>
          <a:xfrm>
            <a:off x="742236" y="4699040"/>
            <a:ext cx="13145929" cy="2632710"/>
          </a:xfrm>
          <a:prstGeom prst="roundRect">
            <a:avLst>
              <a:gd name="adj" fmla="val 785"/>
            </a:avLst>
          </a:prstGeom>
          <a:solidFill>
            <a:srgbClr val="F2F2F2"/>
          </a:solidFill>
          <a:ln/>
        </p:spPr>
        <p:txBody>
          <a:bodyPr/>
          <a:lstStyle/>
          <a:p>
            <a:endParaRPr lang="en-IN"/>
          </a:p>
        </p:txBody>
      </p:sp>
      <p:sp>
        <p:nvSpPr>
          <p:cNvPr id="13" name="Text 11"/>
          <p:cNvSpPr/>
          <p:nvPr/>
        </p:nvSpPr>
        <p:spPr>
          <a:xfrm>
            <a:off x="881301" y="4700111"/>
            <a:ext cx="12867799" cy="2449116"/>
          </a:xfrm>
          <a:prstGeom prst="rect">
            <a:avLst/>
          </a:prstGeom>
          <a:noFill/>
          <a:ln/>
        </p:spPr>
        <p:txBody>
          <a:bodyPr wrap="square" lIns="0" tIns="0" rIns="0" bIns="0" rtlCol="0" anchor="t"/>
          <a:lstStyle/>
          <a:p>
            <a:r>
              <a:rPr lang="en-IN" sz="1400" dirty="0">
                <a:highlight>
                  <a:srgbClr val="F2F2F2"/>
                </a:highlight>
              </a:rPr>
              <a:t>WITH </a:t>
            </a:r>
            <a:r>
              <a:rPr lang="en-IN" sz="1400" dirty="0" err="1">
                <a:highlight>
                  <a:srgbClr val="F2F2F2"/>
                </a:highlight>
              </a:rPr>
              <a:t>brand_stats</a:t>
            </a:r>
            <a:r>
              <a:rPr lang="en-IN" sz="1400" dirty="0">
                <a:highlight>
                  <a:srgbClr val="F2F2F2"/>
                </a:highlight>
              </a:rPr>
              <a:t> AS (</a:t>
            </a:r>
          </a:p>
          <a:p>
            <a:r>
              <a:rPr lang="en-IN" sz="1400" dirty="0">
                <a:highlight>
                  <a:srgbClr val="F2F2F2"/>
                </a:highlight>
              </a:rPr>
              <a:t>    SELECT brand_name, </a:t>
            </a:r>
            <a:r>
              <a:rPr lang="en-US" sz="1400" dirty="0"/>
              <a:t>ROUND(AVG(price),1) as </a:t>
            </a:r>
            <a:r>
              <a:rPr lang="en-US" sz="1400" dirty="0" err="1"/>
              <a:t>avg_brand_price</a:t>
            </a:r>
            <a:r>
              <a:rPr lang="en-IN" sz="1400" dirty="0">
                <a:highlight>
                  <a:srgbClr val="F2F2F2"/>
                </a:highlight>
              </a:rPr>
              <a:t>, </a:t>
            </a:r>
            <a:r>
              <a:rPr lang="en-US" sz="1400" dirty="0"/>
              <a:t>ROUND(AVG(ratings),1) as </a:t>
            </a:r>
            <a:r>
              <a:rPr lang="en-US" sz="1400" dirty="0" err="1"/>
              <a:t>avg_brand_rating</a:t>
            </a:r>
            <a:endParaRPr lang="en-IN" sz="1400" dirty="0">
              <a:highlight>
                <a:srgbClr val="F2F2F2"/>
              </a:highlight>
            </a:endParaRPr>
          </a:p>
          <a:p>
            <a:r>
              <a:rPr lang="en-IN" sz="1400" dirty="0">
                <a:highlight>
                  <a:srgbClr val="F2F2F2"/>
                </a:highlight>
              </a:rPr>
              <a:t>    FROM project_myntra</a:t>
            </a:r>
          </a:p>
          <a:p>
            <a:r>
              <a:rPr lang="en-IN" sz="1400" dirty="0">
                <a:highlight>
                  <a:srgbClr val="F2F2F2"/>
                </a:highlight>
              </a:rPr>
              <a:t>    GROUP BY brand_name</a:t>
            </a:r>
          </a:p>
          <a:p>
            <a:r>
              <a:rPr lang="en-IN" sz="1400" dirty="0">
                <a:highlight>
                  <a:srgbClr val="F2F2F2"/>
                </a:highlight>
              </a:rPr>
              <a:t>), </a:t>
            </a:r>
          </a:p>
          <a:p>
            <a:r>
              <a:rPr lang="en-IN" sz="1400" dirty="0" err="1">
                <a:highlight>
                  <a:srgbClr val="F2F2F2"/>
                </a:highlight>
              </a:rPr>
              <a:t>overall_stats</a:t>
            </a:r>
            <a:r>
              <a:rPr lang="en-IN" sz="1400" dirty="0">
                <a:highlight>
                  <a:srgbClr val="F2F2F2"/>
                </a:highlight>
              </a:rPr>
              <a:t> AS (</a:t>
            </a:r>
          </a:p>
          <a:p>
            <a:r>
              <a:rPr lang="en-IN" sz="1400" dirty="0">
                <a:highlight>
                  <a:srgbClr val="F2F2F2"/>
                </a:highlight>
              </a:rPr>
              <a:t>    SELECT </a:t>
            </a:r>
            <a:r>
              <a:rPr lang="en-US" sz="1400" dirty="0"/>
              <a:t>ROUND(AVG(price),1) as </a:t>
            </a:r>
            <a:r>
              <a:rPr lang="en-US" sz="1400" dirty="0" err="1"/>
              <a:t>overall_avg_price</a:t>
            </a:r>
            <a:r>
              <a:rPr lang="en-IN" sz="1400" dirty="0">
                <a:highlight>
                  <a:srgbClr val="F2F2F2"/>
                </a:highlight>
              </a:rPr>
              <a:t>, </a:t>
            </a:r>
            <a:r>
              <a:rPr lang="en-US" sz="1400" dirty="0"/>
              <a:t>ROUND(AVG(ratings),1) as </a:t>
            </a:r>
            <a:r>
              <a:rPr lang="en-US" sz="1400" dirty="0" err="1"/>
              <a:t>overall_avg_rating</a:t>
            </a:r>
            <a:endParaRPr lang="en-IN" sz="1400" dirty="0">
              <a:highlight>
                <a:srgbClr val="F2F2F2"/>
              </a:highlight>
            </a:endParaRPr>
          </a:p>
          <a:p>
            <a:r>
              <a:rPr lang="en-IN" sz="1400" dirty="0">
                <a:highlight>
                  <a:srgbClr val="F2F2F2"/>
                </a:highlight>
              </a:rPr>
              <a:t>    FROM project_myntra</a:t>
            </a:r>
          </a:p>
          <a:p>
            <a:r>
              <a:rPr lang="en-IN" sz="1400" dirty="0">
                <a:highlight>
                  <a:srgbClr val="F2F2F2"/>
                </a:highlight>
              </a:rPr>
              <a:t>)</a:t>
            </a:r>
          </a:p>
          <a:p>
            <a:r>
              <a:rPr lang="en-IN" sz="1400" dirty="0">
                <a:highlight>
                  <a:srgbClr val="F2F2F2"/>
                </a:highlight>
              </a:rPr>
              <a:t>SELECT </a:t>
            </a:r>
            <a:r>
              <a:rPr lang="en-IN" sz="1400" dirty="0" err="1">
                <a:highlight>
                  <a:srgbClr val="F2F2F2"/>
                </a:highlight>
              </a:rPr>
              <a:t>b.brand_name</a:t>
            </a:r>
            <a:r>
              <a:rPr lang="en-IN" sz="1400" dirty="0">
                <a:highlight>
                  <a:srgbClr val="F2F2F2"/>
                </a:highlight>
              </a:rPr>
              <a:t>, </a:t>
            </a:r>
            <a:r>
              <a:rPr lang="en-IN" sz="1400" dirty="0" err="1">
                <a:highlight>
                  <a:srgbClr val="F2F2F2"/>
                </a:highlight>
              </a:rPr>
              <a:t>b.avg_brand_price</a:t>
            </a:r>
            <a:r>
              <a:rPr lang="en-IN" sz="1400" dirty="0">
                <a:highlight>
                  <a:srgbClr val="F2F2F2"/>
                </a:highlight>
              </a:rPr>
              <a:t>, </a:t>
            </a:r>
            <a:r>
              <a:rPr lang="en-IN" sz="1400" dirty="0" err="1">
                <a:highlight>
                  <a:srgbClr val="F2F2F2"/>
                </a:highlight>
              </a:rPr>
              <a:t>b.avg_brand_rating</a:t>
            </a:r>
            <a:r>
              <a:rPr lang="en-IN" sz="1400" dirty="0">
                <a:highlight>
                  <a:srgbClr val="F2F2F2"/>
                </a:highlight>
              </a:rPr>
              <a:t>, </a:t>
            </a:r>
            <a:r>
              <a:rPr lang="en-IN" sz="1400" dirty="0" err="1">
                <a:highlight>
                  <a:srgbClr val="F2F2F2"/>
                </a:highlight>
              </a:rPr>
              <a:t>o.overall_avg_price</a:t>
            </a:r>
            <a:r>
              <a:rPr lang="en-IN" sz="1400" dirty="0">
                <a:highlight>
                  <a:srgbClr val="F2F2F2"/>
                </a:highlight>
              </a:rPr>
              <a:t>, </a:t>
            </a:r>
            <a:r>
              <a:rPr lang="en-IN" sz="1400" dirty="0" err="1">
                <a:highlight>
                  <a:srgbClr val="F2F2F2"/>
                </a:highlight>
              </a:rPr>
              <a:t>o.overall_avg_rating</a:t>
            </a:r>
            <a:endParaRPr lang="en-IN" sz="1400" dirty="0">
              <a:highlight>
                <a:srgbClr val="F2F2F2"/>
              </a:highlight>
            </a:endParaRPr>
          </a:p>
          <a:p>
            <a:r>
              <a:rPr lang="en-IN" sz="1400" dirty="0">
                <a:highlight>
                  <a:srgbClr val="F2F2F2"/>
                </a:highlight>
              </a:rPr>
              <a:t>FROM </a:t>
            </a:r>
            <a:r>
              <a:rPr lang="en-IN" sz="1400" dirty="0" err="1">
                <a:highlight>
                  <a:srgbClr val="F2F2F2"/>
                </a:highlight>
              </a:rPr>
              <a:t>brand_stats</a:t>
            </a:r>
            <a:r>
              <a:rPr lang="en-IN" sz="1400" dirty="0">
                <a:highlight>
                  <a:srgbClr val="F2F2F2"/>
                </a:highlight>
              </a:rPr>
              <a:t> b, </a:t>
            </a:r>
            <a:r>
              <a:rPr lang="en-IN" sz="1400" dirty="0" err="1">
                <a:highlight>
                  <a:srgbClr val="F2F2F2"/>
                </a:highlight>
              </a:rPr>
              <a:t>overall_stats</a:t>
            </a:r>
            <a:r>
              <a:rPr lang="en-IN" sz="1400" dirty="0">
                <a:highlight>
                  <a:srgbClr val="F2F2F2"/>
                </a:highlight>
              </a:rPr>
              <a:t> o</a:t>
            </a:r>
          </a:p>
          <a:p>
            <a:r>
              <a:rPr lang="en-IN" sz="1400" dirty="0">
                <a:highlight>
                  <a:srgbClr val="F2F2F2"/>
                </a:highlight>
              </a:rPr>
              <a:t>WHERE </a:t>
            </a:r>
            <a:r>
              <a:rPr lang="en-IN" sz="1400" dirty="0" err="1">
                <a:highlight>
                  <a:srgbClr val="F2F2F2"/>
                </a:highlight>
              </a:rPr>
              <a:t>b.avg_brand_price</a:t>
            </a:r>
            <a:r>
              <a:rPr lang="en-IN" sz="1400" dirty="0">
                <a:highlight>
                  <a:srgbClr val="F2F2F2"/>
                </a:highlight>
              </a:rPr>
              <a:t> &gt; </a:t>
            </a:r>
            <a:r>
              <a:rPr lang="en-IN" sz="1400" dirty="0" err="1">
                <a:highlight>
                  <a:srgbClr val="F2F2F2"/>
                </a:highlight>
              </a:rPr>
              <a:t>o.overall_avg_price</a:t>
            </a:r>
            <a:r>
              <a:rPr lang="en-IN" sz="1400" dirty="0">
                <a:highlight>
                  <a:srgbClr val="F2F2F2"/>
                </a:highlight>
              </a:rPr>
              <a:t> AND </a:t>
            </a:r>
            <a:r>
              <a:rPr lang="en-IN" sz="1400" dirty="0" err="1">
                <a:highlight>
                  <a:srgbClr val="F2F2F2"/>
                </a:highlight>
              </a:rPr>
              <a:t>b.avg_brand_rating</a:t>
            </a:r>
            <a:r>
              <a:rPr lang="en-IN" sz="1400" dirty="0">
                <a:highlight>
                  <a:srgbClr val="F2F2F2"/>
                </a:highlight>
              </a:rPr>
              <a:t> &lt; </a:t>
            </a:r>
            <a:r>
              <a:rPr lang="en-IN" sz="1400" dirty="0" err="1">
                <a:highlight>
                  <a:srgbClr val="F2F2F2"/>
                </a:highlight>
              </a:rPr>
              <a:t>o.overall_avg_rating</a:t>
            </a:r>
            <a:r>
              <a:rPr lang="en-IN" sz="1400" dirty="0">
                <a:highlight>
                  <a:srgbClr val="F2F2F2"/>
                </a:highlight>
              </a:rPr>
              <a:t>;</a:t>
            </a:r>
          </a:p>
        </p:txBody>
      </p:sp>
      <p:sp>
        <p:nvSpPr>
          <p:cNvPr id="14" name="Text 12"/>
          <p:cNvSpPr/>
          <p:nvPr/>
        </p:nvSpPr>
        <p:spPr>
          <a:xfrm>
            <a:off x="749141" y="7409974"/>
            <a:ext cx="13132118" cy="230267"/>
          </a:xfrm>
          <a:prstGeom prst="rect">
            <a:avLst/>
          </a:prstGeom>
          <a:noFill/>
          <a:ln/>
        </p:spPr>
        <p:txBody>
          <a:bodyPr wrap="none" lIns="0" tIns="0" rIns="0" bIns="0" rtlCol="0" anchor="t"/>
          <a:lstStyle/>
          <a:p>
            <a:pPr marL="0" indent="0" algn="l">
              <a:lnSpc>
                <a:spcPts val="1750"/>
              </a:lnSpc>
              <a:buNone/>
            </a:pPr>
            <a:r>
              <a:rPr lang="en-US" sz="1050" dirty="0">
                <a:solidFill>
                  <a:srgbClr val="000000"/>
                </a:solidFill>
                <a:latin typeface="Source Sans 3" pitchFamily="34" charset="0"/>
                <a:ea typeface="Source Sans 3" pitchFamily="34" charset="-122"/>
                <a:cs typeface="Source Sans 3" pitchFamily="34" charset="-120"/>
              </a:rPr>
              <a:t>🔹</a:t>
            </a:r>
            <a:r>
              <a:rPr lang="en-US" sz="1050" dirty="0">
                <a:solidFill>
                  <a:srgbClr val="272525"/>
                </a:solidFill>
                <a:latin typeface="Source Sans 3" pitchFamily="34" charset="0"/>
                <a:ea typeface="Source Sans 3" pitchFamily="34" charset="-122"/>
                <a:cs typeface="Source Sans 3" pitchFamily="34" charset="-120"/>
              </a:rPr>
              <a:t> Identifies overpriced brands with underwhelming customer satisfaction.</a:t>
            </a:r>
            <a:endParaRPr lang="en-US" sz="1050" dirty="0"/>
          </a:p>
        </p:txBody>
      </p:sp>
      <p:pic>
        <p:nvPicPr>
          <p:cNvPr id="16" name="Picture 15">
            <a:extLst>
              <a:ext uri="{FF2B5EF4-FFF2-40B4-BE49-F238E27FC236}">
                <a16:creationId xmlns:a16="http://schemas.microsoft.com/office/drawing/2014/main" id="{E7987FCF-E1ED-4333-2BEE-11B5D7932BB5}"/>
              </a:ext>
            </a:extLst>
          </p:cNvPr>
          <p:cNvPicPr>
            <a:picLocks noChangeAspect="1"/>
          </p:cNvPicPr>
          <p:nvPr/>
        </p:nvPicPr>
        <p:blipFill>
          <a:blip r:embed="rId3"/>
          <a:stretch>
            <a:fillRect/>
          </a:stretch>
        </p:blipFill>
        <p:spPr>
          <a:xfrm>
            <a:off x="9967901" y="1744743"/>
            <a:ext cx="2911533" cy="1113234"/>
          </a:xfrm>
          <a:prstGeom prst="rect">
            <a:avLst/>
          </a:prstGeom>
        </p:spPr>
      </p:pic>
      <p:pic>
        <p:nvPicPr>
          <p:cNvPr id="18" name="Picture 17">
            <a:extLst>
              <a:ext uri="{FF2B5EF4-FFF2-40B4-BE49-F238E27FC236}">
                <a16:creationId xmlns:a16="http://schemas.microsoft.com/office/drawing/2014/main" id="{1CA5683A-F4AA-31FE-F7BF-A2ADBA3891CA}"/>
              </a:ext>
            </a:extLst>
          </p:cNvPr>
          <p:cNvPicPr>
            <a:picLocks noChangeAspect="1"/>
          </p:cNvPicPr>
          <p:nvPr/>
        </p:nvPicPr>
        <p:blipFill>
          <a:blip r:embed="rId4"/>
          <a:stretch>
            <a:fillRect/>
          </a:stretch>
        </p:blipFill>
        <p:spPr>
          <a:xfrm>
            <a:off x="9085723" y="5220201"/>
            <a:ext cx="4663376" cy="1836965"/>
          </a:xfrm>
          <a:prstGeom prst="rect">
            <a:avLst/>
          </a:prstGeom>
        </p:spPr>
      </p:pic>
      <p:sp>
        <p:nvSpPr>
          <p:cNvPr id="19" name="Text 12">
            <a:extLst>
              <a:ext uri="{FF2B5EF4-FFF2-40B4-BE49-F238E27FC236}">
                <a16:creationId xmlns:a16="http://schemas.microsoft.com/office/drawing/2014/main" id="{3216B803-2619-5964-F33C-9749B68D9C2A}"/>
              </a:ext>
            </a:extLst>
          </p:cNvPr>
          <p:cNvSpPr/>
          <p:nvPr/>
        </p:nvSpPr>
        <p:spPr>
          <a:xfrm>
            <a:off x="742236" y="7701185"/>
            <a:ext cx="13132118" cy="230267"/>
          </a:xfrm>
          <a:prstGeom prst="rect">
            <a:avLst/>
          </a:prstGeom>
          <a:noFill/>
          <a:ln/>
        </p:spPr>
        <p:txBody>
          <a:bodyPr wrap="none" lIns="0" tIns="0" rIns="0" bIns="0" rtlCol="0" anchor="t"/>
          <a:lstStyle/>
          <a:p>
            <a:pPr>
              <a:lnSpc>
                <a:spcPts val="1750"/>
              </a:lnSpc>
            </a:pPr>
            <a:r>
              <a:rPr lang="en-US" sz="1050" dirty="0"/>
              <a:t>✅ </a:t>
            </a:r>
            <a:r>
              <a:rPr lang="en-US" sz="1050" b="1" dirty="0"/>
              <a:t>Insight:</a:t>
            </a:r>
            <a:r>
              <a:rPr lang="en-US" sz="1050" dirty="0"/>
              <a:t> Highlights brands that </a:t>
            </a:r>
            <a:r>
              <a:rPr lang="en-US" sz="1050" b="1" dirty="0"/>
              <a:t>charge above-average prices but fail to meet customer expectations.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64858" y="612100"/>
            <a:ext cx="5810488" cy="417671"/>
          </a:xfrm>
          <a:prstGeom prst="rect">
            <a:avLst/>
          </a:prstGeom>
          <a:noFill/>
          <a:ln/>
        </p:spPr>
        <p:txBody>
          <a:bodyPr wrap="none" lIns="0" tIns="0" rIns="0" bIns="0" rtlCol="0" anchor="t"/>
          <a:lstStyle/>
          <a:p>
            <a:pPr marL="0" indent="0" algn="l">
              <a:lnSpc>
                <a:spcPts val="3250"/>
              </a:lnSpc>
              <a:buNone/>
            </a:pPr>
            <a:r>
              <a:rPr lang="en-US" sz="2600" dirty="0">
                <a:solidFill>
                  <a:srgbClr val="000000"/>
                </a:solidFill>
                <a:latin typeface="Source Serif 4 Semi Bold" pitchFamily="34" charset="0"/>
                <a:ea typeface="Source Serif 4 Semi Bold" pitchFamily="34" charset="-122"/>
                <a:cs typeface="Source Serif 4 Semi Bold" pitchFamily="34" charset="-120"/>
              </a:rPr>
              <a:t>💻</a:t>
            </a:r>
            <a:r>
              <a:rPr lang="en-US" sz="2600" dirty="0">
                <a:solidFill>
                  <a:srgbClr val="D73AD7"/>
                </a:solidFill>
                <a:latin typeface="Source Serif 4 Semi Bold" pitchFamily="34" charset="0"/>
                <a:ea typeface="Source Serif 4 Semi Bold" pitchFamily="34" charset="-122"/>
                <a:cs typeface="Source Serif 4 Semi Bold" pitchFamily="34" charset="-120"/>
              </a:rPr>
              <a:t> 4. SQL Analysis &amp; Insights (Cont.)</a:t>
            </a:r>
            <a:endParaRPr lang="en-US" sz="2600" dirty="0"/>
          </a:p>
        </p:txBody>
      </p:sp>
      <p:sp>
        <p:nvSpPr>
          <p:cNvPr id="3" name="Text 1"/>
          <p:cNvSpPr/>
          <p:nvPr/>
        </p:nvSpPr>
        <p:spPr>
          <a:xfrm>
            <a:off x="764858" y="1242774"/>
            <a:ext cx="4179213" cy="208955"/>
          </a:xfrm>
          <a:prstGeom prst="rect">
            <a:avLst/>
          </a:prstGeom>
          <a:noFill/>
          <a:ln/>
        </p:spPr>
        <p:txBody>
          <a:bodyPr wrap="none" lIns="0" tIns="0" rIns="0" bIns="0" rtlCol="0" anchor="t"/>
          <a:lstStyle/>
          <a:p>
            <a:pPr marL="0" indent="0" algn="l">
              <a:lnSpc>
                <a:spcPts val="1600"/>
              </a:lnSpc>
              <a:buNone/>
            </a:pPr>
            <a:r>
              <a:rPr lang="en-US" sz="1300" dirty="0">
                <a:solidFill>
                  <a:srgbClr val="D73AD7"/>
                </a:solidFill>
                <a:latin typeface="Source Serif 4 Semi Bold" pitchFamily="34" charset="0"/>
                <a:ea typeface="Source Serif 4 Semi Bold" pitchFamily="34" charset="-122"/>
                <a:cs typeface="Source Serif 4 Semi Bold" pitchFamily="34" charset="-120"/>
              </a:rPr>
              <a:t>Query 5: Product vs. Brand Average Price Difference</a:t>
            </a:r>
            <a:endParaRPr lang="en-US" sz="1300" dirty="0"/>
          </a:p>
        </p:txBody>
      </p:sp>
      <p:sp>
        <p:nvSpPr>
          <p:cNvPr id="4" name="Shape 2"/>
          <p:cNvSpPr/>
          <p:nvPr/>
        </p:nvSpPr>
        <p:spPr>
          <a:xfrm>
            <a:off x="764858" y="1664732"/>
            <a:ext cx="13100685" cy="2257425"/>
          </a:xfrm>
          <a:prstGeom prst="roundRect">
            <a:avLst>
              <a:gd name="adj" fmla="val 2643"/>
            </a:avLst>
          </a:prstGeom>
          <a:solidFill>
            <a:srgbClr val="F2F2F2"/>
          </a:solidFill>
          <a:ln/>
        </p:spPr>
        <p:txBody>
          <a:bodyPr/>
          <a:lstStyle/>
          <a:p>
            <a:endParaRPr lang="en-IN"/>
          </a:p>
        </p:txBody>
      </p:sp>
      <p:sp>
        <p:nvSpPr>
          <p:cNvPr id="5" name="Shape 3"/>
          <p:cNvSpPr/>
          <p:nvPr/>
        </p:nvSpPr>
        <p:spPr>
          <a:xfrm>
            <a:off x="757833" y="1664732"/>
            <a:ext cx="13100685" cy="2310765"/>
          </a:xfrm>
          <a:prstGeom prst="roundRect">
            <a:avLst>
              <a:gd name="adj" fmla="val 944"/>
            </a:avLst>
          </a:prstGeom>
          <a:solidFill>
            <a:srgbClr val="F2F2F2"/>
          </a:solidFill>
          <a:ln/>
        </p:spPr>
        <p:txBody>
          <a:bodyPr/>
          <a:lstStyle/>
          <a:p>
            <a:endParaRPr lang="en-IN"/>
          </a:p>
        </p:txBody>
      </p:sp>
      <p:sp>
        <p:nvSpPr>
          <p:cNvPr id="6" name="Text 4"/>
          <p:cNvSpPr/>
          <p:nvPr/>
        </p:nvSpPr>
        <p:spPr>
          <a:xfrm>
            <a:off x="899874" y="1771174"/>
            <a:ext cx="12830651" cy="2044541"/>
          </a:xfrm>
          <a:prstGeom prst="rect">
            <a:avLst/>
          </a:prstGeom>
          <a:noFill/>
          <a:ln/>
        </p:spPr>
        <p:txBody>
          <a:bodyPr wrap="square" lIns="0" tIns="0" rIns="0" bIns="0" rtlCol="0" anchor="t"/>
          <a:lstStyle/>
          <a:p>
            <a:r>
              <a:rPr lang="en-IN" sz="1400" dirty="0">
                <a:highlight>
                  <a:srgbClr val="F2F2F2"/>
                </a:highlight>
              </a:rPr>
              <a:t>WITH </a:t>
            </a:r>
            <a:r>
              <a:rPr lang="en-IN" sz="1400" dirty="0" err="1">
                <a:highlight>
                  <a:srgbClr val="F2F2F2"/>
                </a:highlight>
              </a:rPr>
              <a:t>brand_avg_prices</a:t>
            </a:r>
            <a:r>
              <a:rPr lang="en-IN" sz="1400" dirty="0">
                <a:highlight>
                  <a:srgbClr val="F2F2F2"/>
                </a:highlight>
              </a:rPr>
              <a:t> AS (</a:t>
            </a:r>
          </a:p>
          <a:p>
            <a:r>
              <a:rPr lang="en-IN" sz="1400" dirty="0">
                <a:highlight>
                  <a:srgbClr val="F2F2F2"/>
                </a:highlight>
              </a:rPr>
              <a:t>    SELECT brand_name, </a:t>
            </a:r>
            <a:r>
              <a:rPr lang="en-US" sz="1400" dirty="0"/>
              <a:t>ROUND(AVG(price),1) as </a:t>
            </a:r>
            <a:r>
              <a:rPr lang="en-US" sz="1400" dirty="0" err="1"/>
              <a:t>avg_brand_price</a:t>
            </a:r>
            <a:endParaRPr lang="en-IN" sz="1400" dirty="0">
              <a:highlight>
                <a:srgbClr val="F2F2F2"/>
              </a:highlight>
            </a:endParaRPr>
          </a:p>
          <a:p>
            <a:r>
              <a:rPr lang="en-IN" sz="1400" dirty="0">
                <a:highlight>
                  <a:srgbClr val="F2F2F2"/>
                </a:highlight>
              </a:rPr>
              <a:t>    FROM project_myntra</a:t>
            </a:r>
          </a:p>
          <a:p>
            <a:r>
              <a:rPr lang="en-IN" sz="1400" dirty="0">
                <a:highlight>
                  <a:srgbClr val="F2F2F2"/>
                </a:highlight>
              </a:rPr>
              <a:t>    GROUP BY brand_name</a:t>
            </a:r>
          </a:p>
          <a:p>
            <a:r>
              <a:rPr lang="en-IN" sz="1400" dirty="0">
                <a:highlight>
                  <a:srgbClr val="F2F2F2"/>
                </a:highlight>
              </a:rPr>
              <a:t>)</a:t>
            </a:r>
          </a:p>
          <a:p>
            <a:r>
              <a:rPr lang="en-IN" sz="1400" dirty="0">
                <a:highlight>
                  <a:srgbClr val="F2F2F2"/>
                </a:highlight>
              </a:rPr>
              <a:t>SELECT </a:t>
            </a:r>
            <a:r>
              <a:rPr lang="en-IN" sz="1400" dirty="0" err="1">
                <a:highlight>
                  <a:srgbClr val="F2F2F2"/>
                </a:highlight>
              </a:rPr>
              <a:t>d.brand_name</a:t>
            </a:r>
            <a:r>
              <a:rPr lang="en-IN" sz="1400" dirty="0">
                <a:highlight>
                  <a:srgbClr val="F2F2F2"/>
                </a:highlight>
              </a:rPr>
              <a:t>, </a:t>
            </a:r>
            <a:r>
              <a:rPr lang="en-IN" sz="1400" dirty="0" err="1">
                <a:highlight>
                  <a:srgbClr val="F2F2F2"/>
                </a:highlight>
              </a:rPr>
              <a:t>d.pants_description</a:t>
            </a:r>
            <a:r>
              <a:rPr lang="en-IN" sz="1400" dirty="0">
                <a:highlight>
                  <a:srgbClr val="F2F2F2"/>
                </a:highlight>
              </a:rPr>
              <a:t>, </a:t>
            </a:r>
            <a:r>
              <a:rPr lang="en-IN" sz="1400" dirty="0" err="1">
                <a:highlight>
                  <a:srgbClr val="F2F2F2"/>
                </a:highlight>
              </a:rPr>
              <a:t>d.price</a:t>
            </a:r>
            <a:r>
              <a:rPr lang="en-IN" sz="1400" dirty="0">
                <a:highlight>
                  <a:srgbClr val="F2F2F2"/>
                </a:highlight>
              </a:rPr>
              <a:t>, </a:t>
            </a:r>
            <a:r>
              <a:rPr lang="en-IN" sz="1400" dirty="0" err="1">
                <a:highlight>
                  <a:srgbClr val="F2F2F2"/>
                </a:highlight>
              </a:rPr>
              <a:t>b.avg_brand_price</a:t>
            </a:r>
            <a:r>
              <a:rPr lang="en-IN" sz="1400" dirty="0">
                <a:highlight>
                  <a:srgbClr val="F2F2F2"/>
                </a:highlight>
              </a:rPr>
              <a:t>, </a:t>
            </a:r>
          </a:p>
          <a:p>
            <a:r>
              <a:rPr lang="en-US" sz="1400" dirty="0"/>
              <a:t>ABS((</a:t>
            </a:r>
            <a:r>
              <a:rPr lang="en-US" sz="1400" dirty="0" err="1"/>
              <a:t>d.price</a:t>
            </a:r>
            <a:r>
              <a:rPr lang="en-US" sz="1400" dirty="0"/>
              <a:t> - </a:t>
            </a:r>
            <a:r>
              <a:rPr lang="en-US" sz="1400" dirty="0" err="1"/>
              <a:t>b.avg_brand_price</a:t>
            </a:r>
            <a:r>
              <a:rPr lang="en-US" sz="1400" dirty="0"/>
              <a:t>)) as </a:t>
            </a:r>
            <a:r>
              <a:rPr lang="en-US" sz="1400" dirty="0" err="1"/>
              <a:t>price_difference</a:t>
            </a:r>
            <a:endParaRPr lang="en-IN" sz="1400" dirty="0">
              <a:highlight>
                <a:srgbClr val="F2F2F2"/>
              </a:highlight>
            </a:endParaRPr>
          </a:p>
          <a:p>
            <a:r>
              <a:rPr lang="en-IN" sz="1400" dirty="0">
                <a:highlight>
                  <a:srgbClr val="F2F2F2"/>
                </a:highlight>
              </a:rPr>
              <a:t>FROM project_myntra d</a:t>
            </a:r>
          </a:p>
          <a:p>
            <a:r>
              <a:rPr lang="en-IN" sz="1400" dirty="0">
                <a:highlight>
                  <a:srgbClr val="F2F2F2"/>
                </a:highlight>
              </a:rPr>
              <a:t>JOIN </a:t>
            </a:r>
            <a:r>
              <a:rPr lang="en-IN" sz="1400" dirty="0" err="1">
                <a:highlight>
                  <a:srgbClr val="F2F2F2"/>
                </a:highlight>
              </a:rPr>
              <a:t>brand_avg_prices</a:t>
            </a:r>
            <a:r>
              <a:rPr lang="en-IN" sz="1400" dirty="0">
                <a:highlight>
                  <a:srgbClr val="F2F2F2"/>
                </a:highlight>
              </a:rPr>
              <a:t> b ON </a:t>
            </a:r>
            <a:r>
              <a:rPr lang="en-IN" sz="1400" dirty="0" err="1">
                <a:highlight>
                  <a:srgbClr val="F2F2F2"/>
                </a:highlight>
              </a:rPr>
              <a:t>d.brand_name</a:t>
            </a:r>
            <a:r>
              <a:rPr lang="en-IN" sz="1400" dirty="0">
                <a:highlight>
                  <a:srgbClr val="F2F2F2"/>
                </a:highlight>
              </a:rPr>
              <a:t> = </a:t>
            </a:r>
            <a:r>
              <a:rPr lang="en-IN" sz="1400" dirty="0" err="1">
                <a:highlight>
                  <a:srgbClr val="F2F2F2"/>
                </a:highlight>
              </a:rPr>
              <a:t>b.brand_name</a:t>
            </a:r>
            <a:endParaRPr lang="en-IN" sz="1400" dirty="0">
              <a:highlight>
                <a:srgbClr val="F2F2F2"/>
              </a:highlight>
            </a:endParaRPr>
          </a:p>
          <a:p>
            <a:r>
              <a:rPr lang="en-IN" sz="1400" dirty="0">
                <a:highlight>
                  <a:srgbClr val="F2F2F2"/>
                </a:highlight>
              </a:rPr>
              <a:t>ORDER BY </a:t>
            </a:r>
            <a:r>
              <a:rPr lang="en-IN" sz="1400" dirty="0" err="1">
                <a:highlight>
                  <a:srgbClr val="F2F2F2"/>
                </a:highlight>
              </a:rPr>
              <a:t>d.brand_name</a:t>
            </a:r>
            <a:r>
              <a:rPr lang="en-IN" sz="1400" dirty="0">
                <a:highlight>
                  <a:srgbClr val="F2F2F2"/>
                </a:highlight>
              </a:rPr>
              <a:t>, </a:t>
            </a:r>
            <a:r>
              <a:rPr lang="en-IN" sz="1400" dirty="0" err="1">
                <a:highlight>
                  <a:srgbClr val="F2F2F2"/>
                </a:highlight>
              </a:rPr>
              <a:t>price_difference</a:t>
            </a:r>
            <a:r>
              <a:rPr lang="en-IN" sz="1400" dirty="0">
                <a:highlight>
                  <a:srgbClr val="F2F2F2"/>
                </a:highlight>
              </a:rPr>
              <a:t> DESC;</a:t>
            </a:r>
          </a:p>
        </p:txBody>
      </p:sp>
      <p:sp>
        <p:nvSpPr>
          <p:cNvPr id="7" name="Text 5"/>
          <p:cNvSpPr/>
          <p:nvPr/>
        </p:nvSpPr>
        <p:spPr>
          <a:xfrm>
            <a:off x="764858" y="4081939"/>
            <a:ext cx="13100685" cy="227171"/>
          </a:xfrm>
          <a:prstGeom prst="rect">
            <a:avLst/>
          </a:prstGeom>
          <a:noFill/>
          <a:ln/>
        </p:spPr>
        <p:txBody>
          <a:bodyPr wrap="none" lIns="0" tIns="0" rIns="0" bIns="0" rtlCol="0" anchor="t"/>
          <a:lstStyle/>
          <a:p>
            <a:pPr marL="0" indent="0" algn="l">
              <a:lnSpc>
                <a:spcPts val="1750"/>
              </a:lnSpc>
              <a:buNone/>
            </a:pPr>
            <a:r>
              <a:rPr lang="en-US" sz="1100" dirty="0">
                <a:solidFill>
                  <a:srgbClr val="000000"/>
                </a:solidFill>
                <a:latin typeface="Source Sans 3" pitchFamily="34" charset="0"/>
                <a:ea typeface="Source Sans 3" pitchFamily="34" charset="-122"/>
                <a:cs typeface="Source Sans 3" pitchFamily="34" charset="-120"/>
              </a:rPr>
              <a:t>🔹</a:t>
            </a:r>
            <a:r>
              <a:rPr lang="en-US" sz="1100" dirty="0">
                <a:solidFill>
                  <a:srgbClr val="272525"/>
                </a:solidFill>
                <a:latin typeface="Source Sans 3" pitchFamily="34" charset="0"/>
                <a:ea typeface="Source Sans 3" pitchFamily="34" charset="-122"/>
                <a:cs typeface="Source Sans 3" pitchFamily="34" charset="-120"/>
              </a:rPr>
              <a:t> Helps spot premium or budget-friendly products within each brand.</a:t>
            </a:r>
            <a:endParaRPr lang="en-US" sz="1100" dirty="0"/>
          </a:p>
        </p:txBody>
      </p:sp>
      <p:sp>
        <p:nvSpPr>
          <p:cNvPr id="8" name="Shape 6"/>
          <p:cNvSpPr/>
          <p:nvPr/>
        </p:nvSpPr>
        <p:spPr>
          <a:xfrm>
            <a:off x="764858" y="4618435"/>
            <a:ext cx="13100685" cy="25360"/>
          </a:xfrm>
          <a:prstGeom prst="rect">
            <a:avLst/>
          </a:prstGeom>
          <a:solidFill>
            <a:srgbClr val="272525">
              <a:alpha val="50000"/>
            </a:srgbClr>
          </a:solidFill>
          <a:ln/>
        </p:spPr>
        <p:txBody>
          <a:bodyPr/>
          <a:lstStyle/>
          <a:p>
            <a:endParaRPr lang="en-IN"/>
          </a:p>
        </p:txBody>
      </p:sp>
      <p:sp>
        <p:nvSpPr>
          <p:cNvPr id="9" name="Text 7"/>
          <p:cNvSpPr/>
          <p:nvPr/>
        </p:nvSpPr>
        <p:spPr>
          <a:xfrm>
            <a:off x="764858" y="4778216"/>
            <a:ext cx="3139321" cy="208955"/>
          </a:xfrm>
          <a:prstGeom prst="rect">
            <a:avLst/>
          </a:prstGeom>
          <a:noFill/>
          <a:ln/>
        </p:spPr>
        <p:txBody>
          <a:bodyPr wrap="none" lIns="0" tIns="0" rIns="0" bIns="0" rtlCol="0" anchor="t"/>
          <a:lstStyle/>
          <a:p>
            <a:pPr marL="0" indent="0" algn="l">
              <a:lnSpc>
                <a:spcPts val="1600"/>
              </a:lnSpc>
              <a:buNone/>
            </a:pPr>
            <a:r>
              <a:rPr lang="en-US" sz="1300" dirty="0">
                <a:solidFill>
                  <a:srgbClr val="D73AD7"/>
                </a:solidFill>
                <a:latin typeface="Source Serif 4 Semi Bold" pitchFamily="34" charset="0"/>
                <a:ea typeface="Source Serif 4 Semi Bold" pitchFamily="34" charset="-122"/>
                <a:cs typeface="Source Serif 4 Semi Bold" pitchFamily="34" charset="-120"/>
              </a:rPr>
              <a:t>Query 6: Most Rated Product per Brand</a:t>
            </a:r>
            <a:endParaRPr lang="en-US" sz="1300" dirty="0"/>
          </a:p>
        </p:txBody>
      </p:sp>
      <p:sp>
        <p:nvSpPr>
          <p:cNvPr id="10" name="Shape 8"/>
          <p:cNvSpPr/>
          <p:nvPr/>
        </p:nvSpPr>
        <p:spPr>
          <a:xfrm>
            <a:off x="764858" y="5200174"/>
            <a:ext cx="13100685" cy="2030254"/>
          </a:xfrm>
          <a:prstGeom prst="roundRect">
            <a:avLst>
              <a:gd name="adj" fmla="val 2939"/>
            </a:avLst>
          </a:prstGeom>
          <a:solidFill>
            <a:srgbClr val="F2F2F2"/>
          </a:solidFill>
          <a:ln/>
        </p:spPr>
        <p:txBody>
          <a:bodyPr/>
          <a:lstStyle/>
          <a:p>
            <a:endParaRPr lang="en-IN"/>
          </a:p>
        </p:txBody>
      </p:sp>
      <p:sp>
        <p:nvSpPr>
          <p:cNvPr id="11" name="Shape 9"/>
          <p:cNvSpPr/>
          <p:nvPr/>
        </p:nvSpPr>
        <p:spPr>
          <a:xfrm>
            <a:off x="757833" y="5200174"/>
            <a:ext cx="13114734" cy="2030254"/>
          </a:xfrm>
          <a:prstGeom prst="roundRect">
            <a:avLst>
              <a:gd name="adj" fmla="val 1050"/>
            </a:avLst>
          </a:prstGeom>
          <a:solidFill>
            <a:srgbClr val="F2F2F2"/>
          </a:solidFill>
          <a:ln/>
        </p:spPr>
        <p:txBody>
          <a:bodyPr/>
          <a:lstStyle/>
          <a:p>
            <a:endParaRPr lang="en-IN"/>
          </a:p>
        </p:txBody>
      </p:sp>
      <p:sp>
        <p:nvSpPr>
          <p:cNvPr id="12" name="Text 10"/>
          <p:cNvSpPr/>
          <p:nvPr/>
        </p:nvSpPr>
        <p:spPr>
          <a:xfrm>
            <a:off x="899874" y="5306616"/>
            <a:ext cx="12830651" cy="1817370"/>
          </a:xfrm>
          <a:prstGeom prst="rect">
            <a:avLst/>
          </a:prstGeom>
          <a:noFill/>
          <a:ln/>
        </p:spPr>
        <p:txBody>
          <a:bodyPr wrap="square" lIns="0" tIns="0" rIns="0" bIns="0" rtlCol="0" anchor="t"/>
          <a:lstStyle/>
          <a:p>
            <a:r>
              <a:rPr lang="en-US" sz="1400" dirty="0">
                <a:highlight>
                  <a:srgbClr val="F2F2F2"/>
                </a:highlight>
              </a:rPr>
              <a:t>WITH </a:t>
            </a:r>
            <a:r>
              <a:rPr lang="en-US" sz="1400" dirty="0" err="1">
                <a:highlight>
                  <a:srgbClr val="F2F2F2"/>
                </a:highlight>
              </a:rPr>
              <a:t>ranked_products</a:t>
            </a:r>
            <a:r>
              <a:rPr lang="en-US" sz="1400" dirty="0">
                <a:highlight>
                  <a:srgbClr val="F2F2F2"/>
                </a:highlight>
              </a:rPr>
              <a:t> AS (</a:t>
            </a:r>
          </a:p>
          <a:p>
            <a:r>
              <a:rPr lang="en-US" sz="1400" dirty="0">
                <a:highlight>
                  <a:srgbClr val="F2F2F2"/>
                </a:highlight>
              </a:rPr>
              <a:t>    SELECT </a:t>
            </a:r>
            <a:r>
              <a:rPr lang="en-US" sz="1400" dirty="0" err="1">
                <a:highlight>
                  <a:srgbClr val="F2F2F2"/>
                </a:highlight>
              </a:rPr>
              <a:t>brand_name</a:t>
            </a:r>
            <a:r>
              <a:rPr lang="en-US" sz="1400" dirty="0">
                <a:highlight>
                  <a:srgbClr val="F2F2F2"/>
                </a:highlight>
              </a:rPr>
              <a:t>, </a:t>
            </a:r>
            <a:r>
              <a:rPr lang="en-US" sz="1400" dirty="0" err="1">
                <a:highlight>
                  <a:srgbClr val="F2F2F2"/>
                </a:highlight>
              </a:rPr>
              <a:t>pants_description</a:t>
            </a:r>
            <a:r>
              <a:rPr lang="en-US" sz="1400" dirty="0">
                <a:highlight>
                  <a:srgbClr val="F2F2F2"/>
                </a:highlight>
              </a:rPr>
              <a:t>, price, </a:t>
            </a:r>
            <a:r>
              <a:rPr lang="en-US" sz="1400" dirty="0" err="1">
                <a:highlight>
                  <a:srgbClr val="F2F2F2"/>
                </a:highlight>
              </a:rPr>
              <a:t>number_of_ratings</a:t>
            </a:r>
            <a:r>
              <a:rPr lang="en-US" sz="1400" dirty="0">
                <a:highlight>
                  <a:srgbClr val="F2F2F2"/>
                </a:highlight>
              </a:rPr>
              <a:t>,</a:t>
            </a:r>
          </a:p>
          <a:p>
            <a:r>
              <a:rPr lang="en-US" sz="1400" dirty="0">
                <a:highlight>
                  <a:srgbClr val="F2F2F2"/>
                </a:highlight>
              </a:rPr>
              <a:t>           ROW_NUMBER() OVER (PARTITION BY </a:t>
            </a:r>
            <a:r>
              <a:rPr lang="en-US" sz="1400" dirty="0" err="1">
                <a:highlight>
                  <a:srgbClr val="F2F2F2"/>
                </a:highlight>
              </a:rPr>
              <a:t>brand_name</a:t>
            </a:r>
            <a:r>
              <a:rPr lang="en-US" sz="1400" dirty="0">
                <a:highlight>
                  <a:srgbClr val="F2F2F2"/>
                </a:highlight>
              </a:rPr>
              <a:t> ORDER BY </a:t>
            </a:r>
            <a:r>
              <a:rPr lang="en-US" sz="1400" dirty="0" err="1">
                <a:highlight>
                  <a:srgbClr val="F2F2F2"/>
                </a:highlight>
              </a:rPr>
              <a:t>number_of_ratings</a:t>
            </a:r>
            <a:r>
              <a:rPr lang="en-US" sz="1400" dirty="0">
                <a:highlight>
                  <a:srgbClr val="F2F2F2"/>
                </a:highlight>
              </a:rPr>
              <a:t> DESC) AS </a:t>
            </a:r>
            <a:r>
              <a:rPr lang="en-US" sz="1400" dirty="0" err="1">
                <a:highlight>
                  <a:srgbClr val="F2F2F2"/>
                </a:highlight>
              </a:rPr>
              <a:t>rn</a:t>
            </a:r>
            <a:endParaRPr lang="en-US" sz="1400" dirty="0">
              <a:highlight>
                <a:srgbClr val="F2F2F2"/>
              </a:highlight>
            </a:endParaRPr>
          </a:p>
          <a:p>
            <a:r>
              <a:rPr lang="en-US" sz="1400" dirty="0">
                <a:highlight>
                  <a:srgbClr val="F2F2F2"/>
                </a:highlight>
              </a:rPr>
              <a:t>    FROM </a:t>
            </a:r>
            <a:r>
              <a:rPr lang="en-US" sz="1400" dirty="0" err="1">
                <a:highlight>
                  <a:srgbClr val="F2F2F2"/>
                </a:highlight>
              </a:rPr>
              <a:t>project_myntra</a:t>
            </a:r>
            <a:endParaRPr lang="en-US" sz="1400" dirty="0">
              <a:highlight>
                <a:srgbClr val="F2F2F2"/>
              </a:highlight>
            </a:endParaRPr>
          </a:p>
          <a:p>
            <a:r>
              <a:rPr lang="en-US" sz="1400" dirty="0">
                <a:highlight>
                  <a:srgbClr val="F2F2F2"/>
                </a:highlight>
              </a:rPr>
              <a:t>)</a:t>
            </a:r>
          </a:p>
          <a:p>
            <a:r>
              <a:rPr lang="en-US" sz="1400" dirty="0">
                <a:highlight>
                  <a:srgbClr val="F2F2F2"/>
                </a:highlight>
              </a:rPr>
              <a:t>SELECT </a:t>
            </a:r>
            <a:r>
              <a:rPr lang="en-US" sz="1400" dirty="0" err="1">
                <a:highlight>
                  <a:srgbClr val="F2F2F2"/>
                </a:highlight>
              </a:rPr>
              <a:t>brand_name</a:t>
            </a:r>
            <a:r>
              <a:rPr lang="en-US" sz="1400" dirty="0">
                <a:highlight>
                  <a:srgbClr val="F2F2F2"/>
                </a:highlight>
              </a:rPr>
              <a:t>, </a:t>
            </a:r>
            <a:r>
              <a:rPr lang="en-US" sz="1400" dirty="0" err="1">
                <a:highlight>
                  <a:srgbClr val="F2F2F2"/>
                </a:highlight>
              </a:rPr>
              <a:t>pants_description</a:t>
            </a:r>
            <a:r>
              <a:rPr lang="en-US" sz="1400" dirty="0">
                <a:highlight>
                  <a:srgbClr val="F2F2F2"/>
                </a:highlight>
              </a:rPr>
              <a:t>, price, </a:t>
            </a:r>
            <a:r>
              <a:rPr lang="en-US" sz="1400" dirty="0" err="1">
                <a:highlight>
                  <a:srgbClr val="F2F2F2"/>
                </a:highlight>
              </a:rPr>
              <a:t>number_of_ratings</a:t>
            </a:r>
            <a:endParaRPr lang="en-US" sz="1400" dirty="0">
              <a:highlight>
                <a:srgbClr val="F2F2F2"/>
              </a:highlight>
            </a:endParaRPr>
          </a:p>
          <a:p>
            <a:r>
              <a:rPr lang="en-US" sz="1400" dirty="0">
                <a:highlight>
                  <a:srgbClr val="F2F2F2"/>
                </a:highlight>
              </a:rPr>
              <a:t>FROM </a:t>
            </a:r>
            <a:r>
              <a:rPr lang="en-US" sz="1400" dirty="0" err="1">
                <a:highlight>
                  <a:srgbClr val="F2F2F2"/>
                </a:highlight>
              </a:rPr>
              <a:t>ranked_products</a:t>
            </a:r>
            <a:endParaRPr lang="en-US" sz="1400" dirty="0">
              <a:highlight>
                <a:srgbClr val="F2F2F2"/>
              </a:highlight>
            </a:endParaRPr>
          </a:p>
          <a:p>
            <a:r>
              <a:rPr lang="en-US" sz="1400" dirty="0">
                <a:highlight>
                  <a:srgbClr val="F2F2F2"/>
                </a:highlight>
              </a:rPr>
              <a:t>WHERE </a:t>
            </a:r>
            <a:r>
              <a:rPr lang="en-US" sz="1400" dirty="0" err="1">
                <a:highlight>
                  <a:srgbClr val="F2F2F2"/>
                </a:highlight>
              </a:rPr>
              <a:t>rn</a:t>
            </a:r>
            <a:r>
              <a:rPr lang="en-US" sz="1400" dirty="0">
                <a:highlight>
                  <a:srgbClr val="F2F2F2"/>
                </a:highlight>
              </a:rPr>
              <a:t> = 1</a:t>
            </a:r>
          </a:p>
          <a:p>
            <a:r>
              <a:rPr lang="en-US" sz="1400" dirty="0"/>
              <a:t>ORDER BY NUMBER_OF_RATINGS DESC</a:t>
            </a:r>
            <a:r>
              <a:rPr lang="en-US" sz="1400" dirty="0">
                <a:highlight>
                  <a:srgbClr val="F2F2F2"/>
                </a:highlight>
              </a:rPr>
              <a:t>;</a:t>
            </a:r>
          </a:p>
        </p:txBody>
      </p:sp>
      <p:sp>
        <p:nvSpPr>
          <p:cNvPr id="13" name="Text 11"/>
          <p:cNvSpPr/>
          <p:nvPr/>
        </p:nvSpPr>
        <p:spPr>
          <a:xfrm>
            <a:off x="764858" y="7390209"/>
            <a:ext cx="13100685" cy="227171"/>
          </a:xfrm>
          <a:prstGeom prst="rect">
            <a:avLst/>
          </a:prstGeom>
          <a:noFill/>
          <a:ln/>
        </p:spPr>
        <p:txBody>
          <a:bodyPr wrap="none" lIns="0" tIns="0" rIns="0" bIns="0" rtlCol="0" anchor="t"/>
          <a:lstStyle/>
          <a:p>
            <a:pPr marL="0" indent="0" algn="l">
              <a:lnSpc>
                <a:spcPts val="1750"/>
              </a:lnSpc>
              <a:buNone/>
            </a:pPr>
            <a:r>
              <a:rPr lang="en-US" sz="1100" dirty="0">
                <a:solidFill>
                  <a:srgbClr val="000000"/>
                </a:solidFill>
                <a:latin typeface="Source Sans 3" pitchFamily="34" charset="0"/>
                <a:ea typeface="Source Sans 3" pitchFamily="34" charset="-122"/>
                <a:cs typeface="Source Sans 3" pitchFamily="34" charset="-120"/>
              </a:rPr>
              <a:t>🔹</a:t>
            </a:r>
            <a:r>
              <a:rPr lang="en-US" sz="1100" dirty="0">
                <a:solidFill>
                  <a:srgbClr val="272525"/>
                </a:solidFill>
                <a:latin typeface="Source Sans 3" pitchFamily="34" charset="0"/>
                <a:ea typeface="Source Sans 3" pitchFamily="34" charset="-122"/>
                <a:cs typeface="Source Sans 3" pitchFamily="34" charset="-120"/>
              </a:rPr>
              <a:t> Finds the most popular product for every brand.</a:t>
            </a:r>
            <a:endParaRPr lang="en-US" sz="1100" dirty="0"/>
          </a:p>
        </p:txBody>
      </p:sp>
      <p:pic>
        <p:nvPicPr>
          <p:cNvPr id="15" name="Picture 14">
            <a:extLst>
              <a:ext uri="{FF2B5EF4-FFF2-40B4-BE49-F238E27FC236}">
                <a16:creationId xmlns:a16="http://schemas.microsoft.com/office/drawing/2014/main" id="{E28E13A0-DA2A-5A07-4C74-6B762DF81E46}"/>
              </a:ext>
            </a:extLst>
          </p:cNvPr>
          <p:cNvPicPr>
            <a:picLocks noChangeAspect="1"/>
          </p:cNvPicPr>
          <p:nvPr/>
        </p:nvPicPr>
        <p:blipFill>
          <a:blip r:embed="rId3"/>
          <a:stretch>
            <a:fillRect/>
          </a:stretch>
        </p:blipFill>
        <p:spPr>
          <a:xfrm>
            <a:off x="8096037" y="1926262"/>
            <a:ext cx="5424754" cy="1787704"/>
          </a:xfrm>
          <a:prstGeom prst="rect">
            <a:avLst/>
          </a:prstGeom>
        </p:spPr>
      </p:pic>
      <p:pic>
        <p:nvPicPr>
          <p:cNvPr id="17" name="Picture 16">
            <a:extLst>
              <a:ext uri="{FF2B5EF4-FFF2-40B4-BE49-F238E27FC236}">
                <a16:creationId xmlns:a16="http://schemas.microsoft.com/office/drawing/2014/main" id="{4563397E-9497-3147-A1E9-F67D9AC2EFCB}"/>
              </a:ext>
            </a:extLst>
          </p:cNvPr>
          <p:cNvPicPr>
            <a:picLocks noChangeAspect="1"/>
          </p:cNvPicPr>
          <p:nvPr/>
        </p:nvPicPr>
        <p:blipFill>
          <a:blip r:embed="rId4"/>
          <a:stretch>
            <a:fillRect/>
          </a:stretch>
        </p:blipFill>
        <p:spPr>
          <a:xfrm>
            <a:off x="8690434" y="5533787"/>
            <a:ext cx="4963921" cy="1365730"/>
          </a:xfrm>
          <a:prstGeom prst="rect">
            <a:avLst/>
          </a:prstGeom>
        </p:spPr>
      </p:pic>
      <p:sp>
        <p:nvSpPr>
          <p:cNvPr id="18" name="Text 5">
            <a:extLst>
              <a:ext uri="{FF2B5EF4-FFF2-40B4-BE49-F238E27FC236}">
                <a16:creationId xmlns:a16="http://schemas.microsoft.com/office/drawing/2014/main" id="{5BD62345-258A-5B51-E6F3-08F5986CD9BD}"/>
              </a:ext>
            </a:extLst>
          </p:cNvPr>
          <p:cNvSpPr/>
          <p:nvPr/>
        </p:nvSpPr>
        <p:spPr>
          <a:xfrm>
            <a:off x="757832" y="4305765"/>
            <a:ext cx="13100685" cy="227171"/>
          </a:xfrm>
          <a:prstGeom prst="rect">
            <a:avLst/>
          </a:prstGeom>
          <a:noFill/>
          <a:ln/>
        </p:spPr>
        <p:txBody>
          <a:bodyPr wrap="none" lIns="0" tIns="0" rIns="0" bIns="0" rtlCol="0" anchor="t"/>
          <a:lstStyle/>
          <a:p>
            <a:pPr>
              <a:lnSpc>
                <a:spcPts val="1750"/>
              </a:lnSpc>
            </a:pPr>
            <a:r>
              <a:rPr lang="en-US" sz="1100" dirty="0"/>
              <a:t>✅ </a:t>
            </a:r>
            <a:r>
              <a:rPr lang="en-US" sz="1100" b="1" dirty="0"/>
              <a:t>Insight:</a:t>
            </a:r>
            <a:r>
              <a:rPr lang="en-US" sz="1100" dirty="0"/>
              <a:t> Highlights </a:t>
            </a:r>
            <a:r>
              <a:rPr lang="en-US" sz="1100" i="1" dirty="0"/>
              <a:t>pricing deviations within brands</a:t>
            </a:r>
            <a:r>
              <a:rPr lang="en-US" sz="1100" dirty="0"/>
              <a:t>, revealing premium or budget outliers.</a:t>
            </a:r>
          </a:p>
        </p:txBody>
      </p:sp>
      <p:sp>
        <p:nvSpPr>
          <p:cNvPr id="20" name="Text 11">
            <a:extLst>
              <a:ext uri="{FF2B5EF4-FFF2-40B4-BE49-F238E27FC236}">
                <a16:creationId xmlns:a16="http://schemas.microsoft.com/office/drawing/2014/main" id="{BBCC03FC-974B-833E-E39B-14E5FE99E2BD}"/>
              </a:ext>
            </a:extLst>
          </p:cNvPr>
          <p:cNvSpPr/>
          <p:nvPr/>
        </p:nvSpPr>
        <p:spPr>
          <a:xfrm>
            <a:off x="771882" y="7617380"/>
            <a:ext cx="13100685" cy="227171"/>
          </a:xfrm>
          <a:prstGeom prst="rect">
            <a:avLst/>
          </a:prstGeom>
          <a:noFill/>
          <a:ln/>
        </p:spPr>
        <p:txBody>
          <a:bodyPr wrap="none" lIns="0" tIns="0" rIns="0" bIns="0" rtlCol="0" anchor="t"/>
          <a:lstStyle/>
          <a:p>
            <a:pPr>
              <a:lnSpc>
                <a:spcPts val="1750"/>
              </a:lnSpc>
            </a:pPr>
            <a:r>
              <a:rPr lang="en-US" sz="1100" dirty="0"/>
              <a:t>✅ </a:t>
            </a:r>
            <a:r>
              <a:rPr lang="en-US" sz="1100" b="1" dirty="0"/>
              <a:t>Insight:</a:t>
            </a:r>
            <a:r>
              <a:rPr lang="en-US" sz="1100" dirty="0"/>
              <a:t> This query identifies the most popular product for each brand based on customer engagement (number of ratings).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70692" y="605552"/>
            <a:ext cx="5853827" cy="428625"/>
          </a:xfrm>
          <a:prstGeom prst="rect">
            <a:avLst/>
          </a:prstGeom>
          <a:noFill/>
          <a:ln/>
        </p:spPr>
        <p:txBody>
          <a:bodyPr wrap="none" lIns="0" tIns="0" rIns="0" bIns="0" rtlCol="0" anchor="t"/>
          <a:lstStyle/>
          <a:p>
            <a:pPr marL="0" indent="0" algn="l">
              <a:lnSpc>
                <a:spcPts val="3300"/>
              </a:lnSpc>
              <a:buNone/>
            </a:pPr>
            <a:r>
              <a:rPr lang="en-US" sz="2650" dirty="0">
                <a:solidFill>
                  <a:srgbClr val="000000"/>
                </a:solidFill>
                <a:latin typeface="Source Serif 4 Semi Bold" pitchFamily="34" charset="0"/>
                <a:ea typeface="Source Serif 4 Semi Bold" pitchFamily="34" charset="-122"/>
                <a:cs typeface="Source Serif 4 Semi Bold" pitchFamily="34" charset="-120"/>
              </a:rPr>
              <a:t>💻</a:t>
            </a:r>
            <a:r>
              <a:rPr lang="en-US" sz="2650" dirty="0">
                <a:solidFill>
                  <a:srgbClr val="D73AD7"/>
                </a:solidFill>
                <a:latin typeface="Source Serif 4 Semi Bold" pitchFamily="34" charset="0"/>
                <a:ea typeface="Source Serif 4 Semi Bold" pitchFamily="34" charset="-122"/>
                <a:cs typeface="Source Serif 4 Semi Bold" pitchFamily="34" charset="-120"/>
              </a:rPr>
              <a:t> 4. SQL Analysis &amp; Insights (Cont.)</a:t>
            </a:r>
            <a:endParaRPr lang="en-US" sz="2650" dirty="0"/>
          </a:p>
        </p:txBody>
      </p:sp>
      <p:sp>
        <p:nvSpPr>
          <p:cNvPr id="3" name="Text 1"/>
          <p:cNvSpPr/>
          <p:nvPr/>
        </p:nvSpPr>
        <p:spPr>
          <a:xfrm>
            <a:off x="770692" y="1248847"/>
            <a:ext cx="4073843" cy="210383"/>
          </a:xfrm>
          <a:prstGeom prst="rect">
            <a:avLst/>
          </a:prstGeom>
          <a:noFill/>
          <a:ln/>
        </p:spPr>
        <p:txBody>
          <a:bodyPr wrap="none" lIns="0" tIns="0" rIns="0" bIns="0" rtlCol="0" anchor="t"/>
          <a:lstStyle/>
          <a:p>
            <a:pPr marL="0" indent="0" algn="l">
              <a:lnSpc>
                <a:spcPts val="1650"/>
              </a:lnSpc>
              <a:buNone/>
            </a:pPr>
            <a:r>
              <a:rPr lang="en-US" sz="1300" dirty="0">
                <a:solidFill>
                  <a:srgbClr val="D73AD7"/>
                </a:solidFill>
                <a:latin typeface="Source Serif 4 Semi Bold" pitchFamily="34" charset="0"/>
                <a:ea typeface="Source Serif 4 Semi Bold" pitchFamily="34" charset="-122"/>
                <a:cs typeface="Source Serif 4 Semi Bold" pitchFamily="34" charset="-120"/>
              </a:rPr>
              <a:t>Query 7: Correlation between Discount and Rating</a:t>
            </a:r>
            <a:endParaRPr lang="en-US" sz="1300" dirty="0"/>
          </a:p>
        </p:txBody>
      </p:sp>
      <p:sp>
        <p:nvSpPr>
          <p:cNvPr id="4" name="Shape 2"/>
          <p:cNvSpPr/>
          <p:nvPr/>
        </p:nvSpPr>
        <p:spPr>
          <a:xfrm>
            <a:off x="770692" y="1673900"/>
            <a:ext cx="13089017" cy="2046208"/>
          </a:xfrm>
          <a:prstGeom prst="roundRect">
            <a:avLst>
              <a:gd name="adj" fmla="val 2938"/>
            </a:avLst>
          </a:prstGeom>
          <a:solidFill>
            <a:srgbClr val="F2F2F2"/>
          </a:solidFill>
          <a:ln/>
        </p:spPr>
        <p:txBody>
          <a:bodyPr/>
          <a:lstStyle/>
          <a:p>
            <a:endParaRPr lang="en-IN"/>
          </a:p>
        </p:txBody>
      </p:sp>
      <p:sp>
        <p:nvSpPr>
          <p:cNvPr id="5" name="Shape 3"/>
          <p:cNvSpPr/>
          <p:nvPr/>
        </p:nvSpPr>
        <p:spPr>
          <a:xfrm>
            <a:off x="763548" y="1673900"/>
            <a:ext cx="13103304" cy="2046208"/>
          </a:xfrm>
          <a:prstGeom prst="roundRect">
            <a:avLst>
              <a:gd name="adj" fmla="val 1049"/>
            </a:avLst>
          </a:prstGeom>
          <a:solidFill>
            <a:srgbClr val="F2F2F2"/>
          </a:solidFill>
          <a:ln/>
        </p:spPr>
        <p:txBody>
          <a:bodyPr/>
          <a:lstStyle/>
          <a:p>
            <a:endParaRPr lang="en-IN"/>
          </a:p>
        </p:txBody>
      </p:sp>
      <p:sp>
        <p:nvSpPr>
          <p:cNvPr id="6" name="Text 4"/>
          <p:cNvSpPr/>
          <p:nvPr/>
        </p:nvSpPr>
        <p:spPr>
          <a:xfrm>
            <a:off x="906661" y="1781175"/>
            <a:ext cx="12817078" cy="1831658"/>
          </a:xfrm>
          <a:prstGeom prst="rect">
            <a:avLst/>
          </a:prstGeom>
          <a:noFill/>
          <a:ln/>
        </p:spPr>
        <p:txBody>
          <a:bodyPr wrap="square" lIns="0" tIns="0" rIns="0" bIns="0" rtlCol="0" anchor="t"/>
          <a:lstStyle/>
          <a:p>
            <a:r>
              <a:rPr lang="en-US" sz="1400" dirty="0">
                <a:highlight>
                  <a:srgbClr val="F2F2F2"/>
                </a:highlight>
              </a:rPr>
              <a:t>WITH </a:t>
            </a:r>
            <a:r>
              <a:rPr lang="en-US" sz="1400" dirty="0" err="1">
                <a:highlight>
                  <a:srgbClr val="F2F2F2"/>
                </a:highlight>
              </a:rPr>
              <a:t>top_products</a:t>
            </a:r>
            <a:r>
              <a:rPr lang="en-US" sz="1400" dirty="0">
                <a:highlight>
                  <a:srgbClr val="F2F2F2"/>
                </a:highlight>
              </a:rPr>
              <a:t> AS (</a:t>
            </a:r>
          </a:p>
          <a:p>
            <a:r>
              <a:rPr lang="en-US" sz="1400" dirty="0">
                <a:highlight>
                  <a:srgbClr val="F2F2F2"/>
                </a:highlight>
              </a:rPr>
              <a:t>    SELECT </a:t>
            </a:r>
            <a:r>
              <a:rPr lang="en-US" sz="1400" dirty="0" err="1">
                <a:highlight>
                  <a:srgbClr val="F2F2F2"/>
                </a:highlight>
              </a:rPr>
              <a:t>discount_percent</a:t>
            </a:r>
            <a:r>
              <a:rPr lang="en-US" sz="1400" dirty="0">
                <a:highlight>
                  <a:srgbClr val="F2F2F2"/>
                </a:highlight>
              </a:rPr>
              <a:t>, ratings</a:t>
            </a:r>
          </a:p>
          <a:p>
            <a:r>
              <a:rPr lang="en-US" sz="1400" dirty="0">
                <a:highlight>
                  <a:srgbClr val="F2F2F2"/>
                </a:highlight>
              </a:rPr>
              <a:t>    FROM </a:t>
            </a:r>
            <a:r>
              <a:rPr lang="en-US" sz="1400" dirty="0" err="1">
                <a:highlight>
                  <a:srgbClr val="F2F2F2"/>
                </a:highlight>
              </a:rPr>
              <a:t>project_myntra</a:t>
            </a:r>
            <a:endParaRPr lang="en-US" sz="1400" dirty="0">
              <a:highlight>
                <a:srgbClr val="F2F2F2"/>
              </a:highlight>
            </a:endParaRPr>
          </a:p>
          <a:p>
            <a:r>
              <a:rPr lang="en-US" sz="1400" dirty="0">
                <a:highlight>
                  <a:srgbClr val="F2F2F2"/>
                </a:highlight>
              </a:rPr>
              <a:t>    ORDER BY </a:t>
            </a:r>
            <a:r>
              <a:rPr lang="en-US" sz="1400" dirty="0" err="1">
                <a:highlight>
                  <a:srgbClr val="F2F2F2"/>
                </a:highlight>
              </a:rPr>
              <a:t>number_of_ratings</a:t>
            </a:r>
            <a:r>
              <a:rPr lang="en-US" sz="1400" dirty="0">
                <a:highlight>
                  <a:srgbClr val="F2F2F2"/>
                </a:highlight>
              </a:rPr>
              <a:t> DESC</a:t>
            </a:r>
          </a:p>
          <a:p>
            <a:r>
              <a:rPr lang="en-US" sz="1400" dirty="0">
                <a:highlight>
                  <a:srgbClr val="F2F2F2"/>
                </a:highlight>
              </a:rPr>
              <a:t>    LIMIT 10</a:t>
            </a:r>
          </a:p>
          <a:p>
            <a:r>
              <a:rPr lang="en-US" sz="1400" dirty="0">
                <a:highlight>
                  <a:srgbClr val="F2F2F2"/>
                </a:highlight>
              </a:rPr>
              <a:t>)</a:t>
            </a:r>
          </a:p>
          <a:p>
            <a:r>
              <a:rPr lang="en-US" sz="1400" dirty="0">
                <a:highlight>
                  <a:srgbClr val="F2F2F2"/>
                </a:highlight>
              </a:rPr>
              <a:t>SELECT ROUND((AVG(</a:t>
            </a:r>
            <a:r>
              <a:rPr lang="en-US" sz="1400" dirty="0" err="1">
                <a:highlight>
                  <a:srgbClr val="F2F2F2"/>
                </a:highlight>
              </a:rPr>
              <a:t>discount_percent</a:t>
            </a:r>
            <a:r>
              <a:rPr lang="en-US" sz="1400" dirty="0">
                <a:highlight>
                  <a:srgbClr val="F2F2F2"/>
                </a:highlight>
              </a:rPr>
              <a:t> * ratings) - AVG(</a:t>
            </a:r>
            <a:r>
              <a:rPr lang="en-US" sz="1400" dirty="0" err="1">
                <a:highlight>
                  <a:srgbClr val="F2F2F2"/>
                </a:highlight>
              </a:rPr>
              <a:t>discount_percent</a:t>
            </a:r>
            <a:r>
              <a:rPr lang="en-US" sz="1400" dirty="0">
                <a:highlight>
                  <a:srgbClr val="F2F2F2"/>
                </a:highlight>
              </a:rPr>
              <a:t>) * AVG(ratings)) / </a:t>
            </a:r>
          </a:p>
          <a:p>
            <a:r>
              <a:rPr lang="en-US" sz="1400" dirty="0">
                <a:highlight>
                  <a:srgbClr val="F2F2F2"/>
                </a:highlight>
              </a:rPr>
              <a:t>(STDDEV(</a:t>
            </a:r>
            <a:r>
              <a:rPr lang="en-US" sz="1400" dirty="0" err="1">
                <a:highlight>
                  <a:srgbClr val="F2F2F2"/>
                </a:highlight>
              </a:rPr>
              <a:t>discount_percent</a:t>
            </a:r>
            <a:r>
              <a:rPr lang="en-US" sz="1400" dirty="0">
                <a:highlight>
                  <a:srgbClr val="F2F2F2"/>
                </a:highlight>
              </a:rPr>
              <a:t>) * STDDEV(ratings)),2) AS </a:t>
            </a:r>
            <a:r>
              <a:rPr lang="en-US" sz="1400" dirty="0" err="1">
                <a:highlight>
                  <a:srgbClr val="F2F2F2"/>
                </a:highlight>
              </a:rPr>
              <a:t>correlation_coefficient</a:t>
            </a:r>
            <a:endParaRPr lang="en-US" sz="1400" dirty="0">
              <a:highlight>
                <a:srgbClr val="F2F2F2"/>
              </a:highlight>
            </a:endParaRPr>
          </a:p>
          <a:p>
            <a:r>
              <a:rPr lang="en-US" sz="1400" dirty="0">
                <a:highlight>
                  <a:srgbClr val="F2F2F2"/>
                </a:highlight>
              </a:rPr>
              <a:t>FROM </a:t>
            </a:r>
            <a:r>
              <a:rPr lang="en-US" sz="1400" dirty="0" err="1">
                <a:highlight>
                  <a:srgbClr val="F2F2F2"/>
                </a:highlight>
              </a:rPr>
              <a:t>top_products</a:t>
            </a:r>
            <a:r>
              <a:rPr lang="en-US" sz="1400" dirty="0">
                <a:highlight>
                  <a:srgbClr val="F2F2F2"/>
                </a:highlight>
              </a:rPr>
              <a:t>;</a:t>
            </a:r>
          </a:p>
        </p:txBody>
      </p:sp>
      <p:sp>
        <p:nvSpPr>
          <p:cNvPr id="7" name="Text 5"/>
          <p:cNvSpPr/>
          <p:nvPr/>
        </p:nvSpPr>
        <p:spPr>
          <a:xfrm>
            <a:off x="770692" y="3881080"/>
            <a:ext cx="13089017" cy="236577"/>
          </a:xfrm>
          <a:prstGeom prst="rect">
            <a:avLst/>
          </a:prstGeom>
          <a:noFill/>
          <a:ln/>
        </p:spPr>
        <p:txBody>
          <a:bodyPr wrap="none" lIns="0" tIns="0" rIns="0" bIns="0" rtlCol="0" anchor="t"/>
          <a:lstStyle/>
          <a:p>
            <a:pPr marL="0" indent="0" algn="l">
              <a:lnSpc>
                <a:spcPts val="1800"/>
              </a:lnSpc>
              <a:buNone/>
            </a:pPr>
            <a:r>
              <a:rPr lang="en-US" sz="1100" dirty="0">
                <a:solidFill>
                  <a:srgbClr val="000000"/>
                </a:solidFill>
                <a:latin typeface="Source Sans 3" pitchFamily="34" charset="0"/>
                <a:ea typeface="Source Sans 3" pitchFamily="34" charset="-122"/>
                <a:cs typeface="Source Sans 3" pitchFamily="34" charset="-120"/>
              </a:rPr>
              <a:t>🔹</a:t>
            </a:r>
            <a:r>
              <a:rPr lang="en-US" sz="1100" dirty="0">
                <a:solidFill>
                  <a:srgbClr val="272525"/>
                </a:solidFill>
                <a:latin typeface="Source Sans 3" pitchFamily="34" charset="0"/>
                <a:ea typeface="Source Sans 3" pitchFamily="34" charset="-122"/>
                <a:cs typeface="Source Sans 3" pitchFamily="34" charset="-120"/>
              </a:rPr>
              <a:t> Measures statistical relationship between discounts and ratings.</a:t>
            </a:r>
            <a:endParaRPr lang="en-US" sz="1100" dirty="0"/>
          </a:p>
        </p:txBody>
      </p:sp>
      <p:sp>
        <p:nvSpPr>
          <p:cNvPr id="8" name="Text 6"/>
          <p:cNvSpPr/>
          <p:nvPr/>
        </p:nvSpPr>
        <p:spPr>
          <a:xfrm>
            <a:off x="770692" y="4278630"/>
            <a:ext cx="13089017" cy="236577"/>
          </a:xfrm>
          <a:prstGeom prst="rect">
            <a:avLst/>
          </a:prstGeom>
          <a:noFill/>
          <a:ln/>
        </p:spPr>
        <p:txBody>
          <a:bodyPr wrap="none" lIns="0" tIns="0" rIns="0" bIns="0" rtlCol="0" anchor="t"/>
          <a:lstStyle/>
          <a:p>
            <a:pPr marL="0" indent="0" algn="l">
              <a:lnSpc>
                <a:spcPts val="1800"/>
              </a:lnSpc>
              <a:buNone/>
            </a:pPr>
            <a:r>
              <a:rPr lang="en-US" sz="1100" dirty="0">
                <a:solidFill>
                  <a:srgbClr val="000000"/>
                </a:solidFill>
                <a:latin typeface="Source Sans 3" pitchFamily="34" charset="0"/>
                <a:ea typeface="Source Sans 3" pitchFamily="34" charset="-122"/>
                <a:cs typeface="Source Sans 3" pitchFamily="34" charset="-120"/>
              </a:rPr>
              <a:t>✅</a:t>
            </a:r>
            <a:r>
              <a:rPr lang="en-US" sz="1100" dirty="0">
                <a:solidFill>
                  <a:srgbClr val="E851B2"/>
                </a:solidFill>
                <a:latin typeface="Source Sans 3" pitchFamily="34" charset="0"/>
                <a:ea typeface="Source Sans 3" pitchFamily="34" charset="-122"/>
                <a:cs typeface="Source Sans 3" pitchFamily="34" charset="-120"/>
              </a:rPr>
              <a:t> Insight: • A negative correlation → deeper discounts don’t always mean better ratings. • A positive correlation → customers may appreciate discounts more.</a:t>
            </a:r>
            <a:endParaRPr lang="en-US" sz="1100" dirty="0"/>
          </a:p>
        </p:txBody>
      </p:sp>
      <p:sp>
        <p:nvSpPr>
          <p:cNvPr id="9" name="Shape 7"/>
          <p:cNvSpPr/>
          <p:nvPr/>
        </p:nvSpPr>
        <p:spPr>
          <a:xfrm>
            <a:off x="770692" y="4747683"/>
            <a:ext cx="13089017" cy="25479"/>
          </a:xfrm>
          <a:prstGeom prst="rect">
            <a:avLst/>
          </a:prstGeom>
          <a:solidFill>
            <a:srgbClr val="272525">
              <a:alpha val="50000"/>
            </a:srgbClr>
          </a:solidFill>
          <a:ln/>
        </p:spPr>
        <p:txBody>
          <a:bodyPr/>
          <a:lstStyle/>
          <a:p>
            <a:endParaRPr lang="en-IN"/>
          </a:p>
        </p:txBody>
      </p:sp>
      <p:sp>
        <p:nvSpPr>
          <p:cNvPr id="10" name="Text 8"/>
          <p:cNvSpPr/>
          <p:nvPr/>
        </p:nvSpPr>
        <p:spPr>
          <a:xfrm>
            <a:off x="770692" y="4987766"/>
            <a:ext cx="4456271" cy="210383"/>
          </a:xfrm>
          <a:prstGeom prst="rect">
            <a:avLst/>
          </a:prstGeom>
          <a:noFill/>
          <a:ln/>
        </p:spPr>
        <p:txBody>
          <a:bodyPr wrap="none" lIns="0" tIns="0" rIns="0" bIns="0" rtlCol="0" anchor="t"/>
          <a:lstStyle/>
          <a:p>
            <a:pPr marL="0" indent="0" algn="l">
              <a:lnSpc>
                <a:spcPts val="1650"/>
              </a:lnSpc>
              <a:buNone/>
            </a:pPr>
            <a:r>
              <a:rPr lang="en-US" sz="1300" dirty="0">
                <a:solidFill>
                  <a:srgbClr val="D73AD7"/>
                </a:solidFill>
                <a:latin typeface="Source Serif 4 Semi Bold" pitchFamily="34" charset="0"/>
                <a:ea typeface="Source Serif 4 Semi Bold" pitchFamily="34" charset="-122"/>
                <a:cs typeface="Source Serif 4 Semi Bold" pitchFamily="34" charset="-120"/>
              </a:rPr>
              <a:t>Query 8: Brands with Both Excellent and Poor Products</a:t>
            </a:r>
            <a:endParaRPr lang="en-US" sz="1300" dirty="0"/>
          </a:p>
        </p:txBody>
      </p:sp>
      <p:sp>
        <p:nvSpPr>
          <p:cNvPr id="11" name="Shape 9"/>
          <p:cNvSpPr/>
          <p:nvPr/>
        </p:nvSpPr>
        <p:spPr>
          <a:xfrm>
            <a:off x="770692" y="5412819"/>
            <a:ext cx="13089017" cy="1817251"/>
          </a:xfrm>
          <a:prstGeom prst="roundRect">
            <a:avLst>
              <a:gd name="adj" fmla="val 3308"/>
            </a:avLst>
          </a:prstGeom>
          <a:solidFill>
            <a:srgbClr val="F2F2F2"/>
          </a:solidFill>
          <a:ln/>
        </p:spPr>
        <p:txBody>
          <a:bodyPr/>
          <a:lstStyle/>
          <a:p>
            <a:endParaRPr lang="en-IN"/>
          </a:p>
        </p:txBody>
      </p:sp>
      <p:sp>
        <p:nvSpPr>
          <p:cNvPr id="12" name="Shape 10"/>
          <p:cNvSpPr/>
          <p:nvPr/>
        </p:nvSpPr>
        <p:spPr>
          <a:xfrm>
            <a:off x="763548" y="5412819"/>
            <a:ext cx="13103304" cy="1817251"/>
          </a:xfrm>
          <a:prstGeom prst="roundRect">
            <a:avLst>
              <a:gd name="adj" fmla="val 1182"/>
            </a:avLst>
          </a:prstGeom>
          <a:solidFill>
            <a:srgbClr val="F2F2F2"/>
          </a:solidFill>
          <a:ln/>
        </p:spPr>
        <p:txBody>
          <a:bodyPr/>
          <a:lstStyle/>
          <a:p>
            <a:endParaRPr lang="en-IN"/>
          </a:p>
        </p:txBody>
      </p:sp>
      <p:sp>
        <p:nvSpPr>
          <p:cNvPr id="13" name="Text 11"/>
          <p:cNvSpPr/>
          <p:nvPr/>
        </p:nvSpPr>
        <p:spPr>
          <a:xfrm>
            <a:off x="906661" y="5520095"/>
            <a:ext cx="12817078" cy="1602700"/>
          </a:xfrm>
          <a:prstGeom prst="rect">
            <a:avLst/>
          </a:prstGeom>
          <a:noFill/>
          <a:ln/>
        </p:spPr>
        <p:txBody>
          <a:bodyPr wrap="square" lIns="0" tIns="0" rIns="0" bIns="0" rtlCol="0" anchor="t"/>
          <a:lstStyle/>
          <a:p>
            <a:r>
              <a:rPr lang="en-US" sz="1400" dirty="0">
                <a:highlight>
                  <a:srgbClr val="F2F2F2"/>
                </a:highlight>
              </a:rPr>
              <a:t>SELECT DISTINCT </a:t>
            </a:r>
            <a:r>
              <a:rPr lang="en-US" sz="1400" dirty="0" err="1">
                <a:highlight>
                  <a:srgbClr val="F2F2F2"/>
                </a:highlight>
              </a:rPr>
              <a:t>brand_name</a:t>
            </a:r>
            <a:endParaRPr lang="en-US" sz="1400" dirty="0">
              <a:highlight>
                <a:srgbClr val="F2F2F2"/>
              </a:highlight>
            </a:endParaRPr>
          </a:p>
          <a:p>
            <a:r>
              <a:rPr lang="en-US" sz="1400" dirty="0">
                <a:highlight>
                  <a:srgbClr val="F2F2F2"/>
                </a:highlight>
              </a:rPr>
              <a:t>FROM </a:t>
            </a:r>
            <a:r>
              <a:rPr lang="en-US" sz="1400" dirty="0" err="1">
                <a:highlight>
                  <a:srgbClr val="F2F2F2"/>
                </a:highlight>
              </a:rPr>
              <a:t>project_myntra</a:t>
            </a:r>
            <a:endParaRPr lang="en-US" sz="1400" dirty="0">
              <a:highlight>
                <a:srgbClr val="F2F2F2"/>
              </a:highlight>
            </a:endParaRPr>
          </a:p>
          <a:p>
            <a:r>
              <a:rPr lang="en-US" sz="1400" dirty="0">
                <a:highlight>
                  <a:srgbClr val="F2F2F2"/>
                </a:highlight>
              </a:rPr>
              <a:t>WHERE </a:t>
            </a:r>
            <a:r>
              <a:rPr lang="en-US" sz="1400" dirty="0" err="1">
                <a:highlight>
                  <a:srgbClr val="F2F2F2"/>
                </a:highlight>
              </a:rPr>
              <a:t>brand_name</a:t>
            </a:r>
            <a:r>
              <a:rPr lang="en-US" sz="1400" dirty="0">
                <a:highlight>
                  <a:srgbClr val="F2F2F2"/>
                </a:highlight>
              </a:rPr>
              <a:t> IN (</a:t>
            </a:r>
          </a:p>
          <a:p>
            <a:r>
              <a:rPr lang="en-US" sz="1400" dirty="0">
                <a:highlight>
                  <a:srgbClr val="F2F2F2"/>
                </a:highlight>
              </a:rPr>
              <a:t>    SELECT </a:t>
            </a:r>
            <a:r>
              <a:rPr lang="en-US" sz="1400" dirty="0" err="1">
                <a:highlight>
                  <a:srgbClr val="F2F2F2"/>
                </a:highlight>
              </a:rPr>
              <a:t>brand_name</a:t>
            </a:r>
            <a:r>
              <a:rPr lang="en-US" sz="1400" dirty="0">
                <a:highlight>
                  <a:srgbClr val="F2F2F2"/>
                </a:highlight>
              </a:rPr>
              <a:t> FROM </a:t>
            </a:r>
            <a:r>
              <a:rPr lang="en-US" sz="1400" dirty="0" err="1">
                <a:highlight>
                  <a:srgbClr val="F2F2F2"/>
                </a:highlight>
              </a:rPr>
              <a:t>project_myntra</a:t>
            </a:r>
            <a:r>
              <a:rPr lang="en-US" sz="1400" dirty="0">
                <a:highlight>
                  <a:srgbClr val="F2F2F2"/>
                </a:highlight>
              </a:rPr>
              <a:t> WHERE ratings &gt;= 4.5</a:t>
            </a:r>
          </a:p>
          <a:p>
            <a:r>
              <a:rPr lang="en-US" sz="1400" dirty="0">
                <a:highlight>
                  <a:srgbClr val="F2F2F2"/>
                </a:highlight>
              </a:rPr>
              <a:t>) AND </a:t>
            </a:r>
            <a:r>
              <a:rPr lang="en-US" sz="1400" dirty="0" err="1">
                <a:highlight>
                  <a:srgbClr val="F2F2F2"/>
                </a:highlight>
              </a:rPr>
              <a:t>brand_name</a:t>
            </a:r>
            <a:r>
              <a:rPr lang="en-US" sz="1400" dirty="0">
                <a:highlight>
                  <a:srgbClr val="F2F2F2"/>
                </a:highlight>
              </a:rPr>
              <a:t> IN (</a:t>
            </a:r>
          </a:p>
          <a:p>
            <a:r>
              <a:rPr lang="en-US" sz="1400" dirty="0">
                <a:highlight>
                  <a:srgbClr val="F2F2F2"/>
                </a:highlight>
              </a:rPr>
              <a:t>    SELECT </a:t>
            </a:r>
            <a:r>
              <a:rPr lang="en-US" sz="1400" dirty="0" err="1">
                <a:highlight>
                  <a:srgbClr val="F2F2F2"/>
                </a:highlight>
              </a:rPr>
              <a:t>brand_name</a:t>
            </a:r>
            <a:r>
              <a:rPr lang="en-US" sz="1400" dirty="0">
                <a:highlight>
                  <a:srgbClr val="F2F2F2"/>
                </a:highlight>
              </a:rPr>
              <a:t> FROM </a:t>
            </a:r>
            <a:r>
              <a:rPr lang="en-US" sz="1400" dirty="0" err="1">
                <a:highlight>
                  <a:srgbClr val="F2F2F2"/>
                </a:highlight>
              </a:rPr>
              <a:t>project_myntra</a:t>
            </a:r>
            <a:r>
              <a:rPr lang="en-US" sz="1400" dirty="0">
                <a:highlight>
                  <a:srgbClr val="F2F2F2"/>
                </a:highlight>
              </a:rPr>
              <a:t> WHERE ratings &lt;= 3.0</a:t>
            </a:r>
          </a:p>
          <a:p>
            <a:r>
              <a:rPr lang="en-US" sz="1400" dirty="0">
                <a:highlight>
                  <a:srgbClr val="F2F2F2"/>
                </a:highlight>
              </a:rPr>
              <a:t>);</a:t>
            </a:r>
          </a:p>
        </p:txBody>
      </p:sp>
      <p:sp>
        <p:nvSpPr>
          <p:cNvPr id="14" name="Text 12"/>
          <p:cNvSpPr/>
          <p:nvPr/>
        </p:nvSpPr>
        <p:spPr>
          <a:xfrm>
            <a:off x="770692" y="7391043"/>
            <a:ext cx="13089017" cy="236577"/>
          </a:xfrm>
          <a:prstGeom prst="rect">
            <a:avLst/>
          </a:prstGeom>
          <a:noFill/>
          <a:ln/>
        </p:spPr>
        <p:txBody>
          <a:bodyPr wrap="none" lIns="0" tIns="0" rIns="0" bIns="0" rtlCol="0" anchor="t"/>
          <a:lstStyle/>
          <a:p>
            <a:pPr marL="0" indent="0" algn="l">
              <a:lnSpc>
                <a:spcPts val="1800"/>
              </a:lnSpc>
              <a:buNone/>
            </a:pPr>
            <a:r>
              <a:rPr lang="en-US" sz="1100" dirty="0">
                <a:solidFill>
                  <a:srgbClr val="000000"/>
                </a:solidFill>
                <a:latin typeface="Source Sans 3" pitchFamily="34" charset="0"/>
                <a:ea typeface="Source Sans 3" pitchFamily="34" charset="-122"/>
                <a:cs typeface="Source Sans 3" pitchFamily="34" charset="-120"/>
              </a:rPr>
              <a:t>🔹</a:t>
            </a:r>
            <a:r>
              <a:rPr lang="en-US" sz="1100" dirty="0">
                <a:solidFill>
                  <a:srgbClr val="272525"/>
                </a:solidFill>
                <a:latin typeface="Source Sans 3" pitchFamily="34" charset="0"/>
                <a:ea typeface="Source Sans 3" pitchFamily="34" charset="-122"/>
                <a:cs typeface="Source Sans 3" pitchFamily="34" charset="-120"/>
              </a:rPr>
              <a:t> Shows brands with mixed customer sentiment.</a:t>
            </a:r>
            <a:endParaRPr lang="en-US" sz="1100" dirty="0"/>
          </a:p>
        </p:txBody>
      </p:sp>
      <p:pic>
        <p:nvPicPr>
          <p:cNvPr id="16" name="Picture 15">
            <a:extLst>
              <a:ext uri="{FF2B5EF4-FFF2-40B4-BE49-F238E27FC236}">
                <a16:creationId xmlns:a16="http://schemas.microsoft.com/office/drawing/2014/main" id="{C4BC29C3-CC61-2D6C-4314-3D081F281AB6}"/>
              </a:ext>
            </a:extLst>
          </p:cNvPr>
          <p:cNvPicPr>
            <a:picLocks noChangeAspect="1"/>
          </p:cNvPicPr>
          <p:nvPr/>
        </p:nvPicPr>
        <p:blipFill>
          <a:blip r:embed="rId3"/>
          <a:stretch>
            <a:fillRect/>
          </a:stretch>
        </p:blipFill>
        <p:spPr>
          <a:xfrm>
            <a:off x="9677205" y="2280862"/>
            <a:ext cx="2790717" cy="842481"/>
          </a:xfrm>
          <a:prstGeom prst="rect">
            <a:avLst/>
          </a:prstGeom>
        </p:spPr>
      </p:pic>
      <p:pic>
        <p:nvPicPr>
          <p:cNvPr id="18" name="Picture 17">
            <a:extLst>
              <a:ext uri="{FF2B5EF4-FFF2-40B4-BE49-F238E27FC236}">
                <a16:creationId xmlns:a16="http://schemas.microsoft.com/office/drawing/2014/main" id="{1C9CE1E7-B39C-19F6-0D83-D903B5B67EF1}"/>
              </a:ext>
            </a:extLst>
          </p:cNvPr>
          <p:cNvPicPr>
            <a:picLocks noChangeAspect="1"/>
          </p:cNvPicPr>
          <p:nvPr/>
        </p:nvPicPr>
        <p:blipFill>
          <a:blip r:embed="rId4"/>
          <a:stretch>
            <a:fillRect/>
          </a:stretch>
        </p:blipFill>
        <p:spPr>
          <a:xfrm>
            <a:off x="10597507" y="5540349"/>
            <a:ext cx="1562190" cy="1562190"/>
          </a:xfrm>
          <a:prstGeom prst="rect">
            <a:avLst/>
          </a:prstGeom>
        </p:spPr>
      </p:pic>
      <p:sp>
        <p:nvSpPr>
          <p:cNvPr id="20" name="TextBox 19">
            <a:extLst>
              <a:ext uri="{FF2B5EF4-FFF2-40B4-BE49-F238E27FC236}">
                <a16:creationId xmlns:a16="http://schemas.microsoft.com/office/drawing/2014/main" id="{5E20AD66-85A7-32B7-EFD1-F243BE4690BE}"/>
              </a:ext>
            </a:extLst>
          </p:cNvPr>
          <p:cNvSpPr txBox="1"/>
          <p:nvPr/>
        </p:nvSpPr>
        <p:spPr>
          <a:xfrm>
            <a:off x="688369" y="7599035"/>
            <a:ext cx="9328934" cy="261610"/>
          </a:xfrm>
          <a:prstGeom prst="rect">
            <a:avLst/>
          </a:prstGeom>
          <a:noFill/>
        </p:spPr>
        <p:txBody>
          <a:bodyPr wrap="square">
            <a:spAutoFit/>
          </a:bodyPr>
          <a:lstStyle/>
          <a:p>
            <a:r>
              <a:rPr lang="en-US" sz="1100" dirty="0"/>
              <a:t>✅ Insight: This query identifies brands that have </a:t>
            </a:r>
            <a:r>
              <a:rPr lang="en-US" sz="1100" b="1" dirty="0"/>
              <a:t>polarizing products</a:t>
            </a:r>
            <a:r>
              <a:rPr lang="en-US" sz="1100" dirty="0"/>
              <a:t>, i.e., brands with </a:t>
            </a:r>
            <a:r>
              <a:rPr lang="en-US" sz="1100" b="1" dirty="0"/>
              <a:t>both highly-rated (≥4.5) and poorly-rated (≤3.0) products</a:t>
            </a:r>
            <a:r>
              <a:rPr lang="en-US" sz="1100" dirty="0"/>
              <a:t>.</a:t>
            </a:r>
            <a:endParaRPr lang="en-IN"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763667"/>
            <a:ext cx="6363057" cy="465177"/>
          </a:xfrm>
          <a:prstGeom prst="rect">
            <a:avLst/>
          </a:prstGeom>
          <a:noFill/>
          <a:ln/>
        </p:spPr>
        <p:txBody>
          <a:bodyPr wrap="none" lIns="0" tIns="0" rIns="0" bIns="0" rtlCol="0" anchor="t"/>
          <a:lstStyle/>
          <a:p>
            <a:pPr marL="0" indent="0" algn="l">
              <a:lnSpc>
                <a:spcPts val="3600"/>
              </a:lnSpc>
              <a:buNone/>
            </a:pPr>
            <a:r>
              <a:rPr lang="en-US" sz="2850" dirty="0">
                <a:solidFill>
                  <a:srgbClr val="000000"/>
                </a:solidFill>
                <a:latin typeface="Source Serif 4 Semi Bold" pitchFamily="34" charset="0"/>
                <a:ea typeface="Source Serif 4 Semi Bold" pitchFamily="34" charset="-122"/>
                <a:cs typeface="Source Serif 4 Semi Bold" pitchFamily="34" charset="-120"/>
              </a:rPr>
              <a:t>💻</a:t>
            </a:r>
            <a:r>
              <a:rPr lang="en-US" sz="2850" dirty="0">
                <a:solidFill>
                  <a:srgbClr val="D73AD7"/>
                </a:solidFill>
                <a:latin typeface="Source Serif 4 Semi Bold" pitchFamily="34" charset="0"/>
                <a:ea typeface="Source Serif 4 Semi Bold" pitchFamily="34" charset="-122"/>
                <a:cs typeface="Source Serif 4 Semi Bold" pitchFamily="34" charset="-120"/>
              </a:rPr>
              <a:t> 4. SQL Analysis &amp; Insights (Cont.)</a:t>
            </a:r>
            <a:endParaRPr lang="en-US" sz="2850" dirty="0"/>
          </a:p>
        </p:txBody>
      </p:sp>
      <p:sp>
        <p:nvSpPr>
          <p:cNvPr id="3" name="Text 1"/>
          <p:cNvSpPr/>
          <p:nvPr/>
        </p:nvSpPr>
        <p:spPr>
          <a:xfrm>
            <a:off x="837724" y="1462207"/>
            <a:ext cx="3851315" cy="228719"/>
          </a:xfrm>
          <a:prstGeom prst="rect">
            <a:avLst/>
          </a:prstGeom>
          <a:noFill/>
          <a:ln/>
        </p:spPr>
        <p:txBody>
          <a:bodyPr wrap="none" lIns="0" tIns="0" rIns="0" bIns="0" rtlCol="0" anchor="t"/>
          <a:lstStyle/>
          <a:p>
            <a:pPr marL="0" indent="0" algn="l">
              <a:lnSpc>
                <a:spcPts val="1800"/>
              </a:lnSpc>
              <a:buNone/>
            </a:pPr>
            <a:r>
              <a:rPr lang="en-US" sz="1400" dirty="0">
                <a:solidFill>
                  <a:srgbClr val="D73AD7"/>
                </a:solidFill>
                <a:latin typeface="Source Serif 4 Semi Bold" pitchFamily="34" charset="0"/>
                <a:ea typeface="Source Serif 4 Semi Bold" pitchFamily="34" charset="-122"/>
                <a:cs typeface="Source Serif 4 Semi Bold" pitchFamily="34" charset="-120"/>
              </a:rPr>
              <a:t>Query 9: High-Rated Products at &lt;50% Price</a:t>
            </a:r>
            <a:endParaRPr lang="en-US" sz="1400" dirty="0"/>
          </a:p>
        </p:txBody>
      </p:sp>
      <p:sp>
        <p:nvSpPr>
          <p:cNvPr id="4" name="Shape 2"/>
          <p:cNvSpPr/>
          <p:nvPr/>
        </p:nvSpPr>
        <p:spPr>
          <a:xfrm>
            <a:off x="837724" y="1924288"/>
            <a:ext cx="12954952" cy="980242"/>
          </a:xfrm>
          <a:prstGeom prst="roundRect">
            <a:avLst>
              <a:gd name="adj" fmla="val 6667"/>
            </a:avLst>
          </a:prstGeom>
          <a:solidFill>
            <a:srgbClr val="F2F2F2"/>
          </a:solidFill>
          <a:ln/>
        </p:spPr>
        <p:txBody>
          <a:bodyPr/>
          <a:lstStyle/>
          <a:p>
            <a:endParaRPr lang="en-IN"/>
          </a:p>
        </p:txBody>
      </p:sp>
      <p:sp>
        <p:nvSpPr>
          <p:cNvPr id="5" name="Shape 3"/>
          <p:cNvSpPr/>
          <p:nvPr/>
        </p:nvSpPr>
        <p:spPr>
          <a:xfrm>
            <a:off x="829985" y="1924287"/>
            <a:ext cx="12970431" cy="1173361"/>
          </a:xfrm>
          <a:prstGeom prst="roundRect">
            <a:avLst>
              <a:gd name="adj" fmla="val 2381"/>
            </a:avLst>
          </a:prstGeom>
          <a:solidFill>
            <a:srgbClr val="F2F2F2"/>
          </a:solidFill>
          <a:ln/>
        </p:spPr>
        <p:txBody>
          <a:bodyPr/>
          <a:lstStyle/>
          <a:p>
            <a:endParaRPr lang="en-IN"/>
          </a:p>
        </p:txBody>
      </p:sp>
      <p:sp>
        <p:nvSpPr>
          <p:cNvPr id="6" name="Text 4"/>
          <p:cNvSpPr/>
          <p:nvPr/>
        </p:nvSpPr>
        <p:spPr>
          <a:xfrm>
            <a:off x="985480" y="2040969"/>
            <a:ext cx="12659439" cy="746879"/>
          </a:xfrm>
          <a:prstGeom prst="rect">
            <a:avLst/>
          </a:prstGeom>
          <a:noFill/>
          <a:ln/>
        </p:spPr>
        <p:txBody>
          <a:bodyPr wrap="square" lIns="0" tIns="0" rIns="0" bIns="0" rtlCol="0" anchor="t"/>
          <a:lstStyle/>
          <a:p>
            <a:r>
              <a:rPr lang="en-US" sz="1400" dirty="0">
                <a:highlight>
                  <a:srgbClr val="F2F2F2"/>
                </a:highlight>
              </a:rPr>
              <a:t>SELECT </a:t>
            </a:r>
            <a:r>
              <a:rPr lang="en-US" sz="1400" dirty="0" err="1">
                <a:highlight>
                  <a:srgbClr val="F2F2F2"/>
                </a:highlight>
              </a:rPr>
              <a:t>brand_name</a:t>
            </a:r>
            <a:r>
              <a:rPr lang="en-US" sz="1400" dirty="0">
                <a:highlight>
                  <a:srgbClr val="F2F2F2"/>
                </a:highlight>
              </a:rPr>
              <a:t>, </a:t>
            </a:r>
            <a:r>
              <a:rPr lang="en-US" sz="1400" dirty="0" err="1">
                <a:highlight>
                  <a:srgbClr val="F2F2F2"/>
                </a:highlight>
              </a:rPr>
              <a:t>pants_description</a:t>
            </a:r>
            <a:r>
              <a:rPr lang="en-US" sz="1400" dirty="0">
                <a:highlight>
                  <a:srgbClr val="F2F2F2"/>
                </a:highlight>
              </a:rPr>
              <a:t>, price, MRP, </a:t>
            </a:r>
          </a:p>
          <a:p>
            <a:r>
              <a:rPr lang="en-US" sz="1400" dirty="0">
                <a:highlight>
                  <a:srgbClr val="F2F2F2"/>
                </a:highlight>
              </a:rPr>
              <a:t>ROUND((price/MRP),2) AS </a:t>
            </a:r>
            <a:r>
              <a:rPr lang="en-US" sz="1400" dirty="0" err="1">
                <a:highlight>
                  <a:srgbClr val="F2F2F2"/>
                </a:highlight>
              </a:rPr>
              <a:t>price_ratio</a:t>
            </a:r>
            <a:r>
              <a:rPr lang="en-US" sz="1400" dirty="0">
                <a:highlight>
                  <a:srgbClr val="F2F2F2"/>
                </a:highlight>
              </a:rPr>
              <a:t>, ratings</a:t>
            </a:r>
          </a:p>
          <a:p>
            <a:r>
              <a:rPr lang="en-US" sz="1400" dirty="0">
                <a:highlight>
                  <a:srgbClr val="F2F2F2"/>
                </a:highlight>
              </a:rPr>
              <a:t>FROM </a:t>
            </a:r>
            <a:r>
              <a:rPr lang="en-US" sz="1400" dirty="0" err="1">
                <a:highlight>
                  <a:srgbClr val="F2F2F2"/>
                </a:highlight>
              </a:rPr>
              <a:t>project_myntra</a:t>
            </a:r>
            <a:endParaRPr lang="en-US" sz="1400" dirty="0">
              <a:highlight>
                <a:srgbClr val="F2F2F2"/>
              </a:highlight>
            </a:endParaRPr>
          </a:p>
          <a:p>
            <a:r>
              <a:rPr lang="en-US" sz="1400" dirty="0">
                <a:highlight>
                  <a:srgbClr val="F2F2F2"/>
                </a:highlight>
              </a:rPr>
              <a:t>WHERE price &lt; (MRP * 0.5) AND ratings &gt; 4.0;</a:t>
            </a:r>
          </a:p>
        </p:txBody>
      </p:sp>
      <p:sp>
        <p:nvSpPr>
          <p:cNvPr id="7" name="Text 5"/>
          <p:cNvSpPr/>
          <p:nvPr/>
        </p:nvSpPr>
        <p:spPr>
          <a:xfrm>
            <a:off x="837724" y="3079552"/>
            <a:ext cx="12954952" cy="256580"/>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Source Sans 3" pitchFamily="34" charset="0"/>
                <a:ea typeface="Source Sans 3" pitchFamily="34" charset="-122"/>
                <a:cs typeface="Source Sans 3" pitchFamily="34" charset="-120"/>
              </a:rPr>
              <a:t>🔹</a:t>
            </a:r>
            <a:r>
              <a:rPr lang="en-US" sz="1200" dirty="0">
                <a:solidFill>
                  <a:srgbClr val="272525"/>
                </a:solidFill>
                <a:latin typeface="Source Sans 3" pitchFamily="34" charset="0"/>
                <a:ea typeface="Source Sans 3" pitchFamily="34" charset="-122"/>
                <a:cs typeface="Source Sans 3" pitchFamily="34" charset="-120"/>
              </a:rPr>
              <a:t> Finds great value-for-money products.</a:t>
            </a:r>
            <a:endParaRPr lang="en-US" sz="1200" dirty="0"/>
          </a:p>
        </p:txBody>
      </p:sp>
      <p:sp>
        <p:nvSpPr>
          <p:cNvPr id="8" name="Shape 6"/>
          <p:cNvSpPr/>
          <p:nvPr/>
        </p:nvSpPr>
        <p:spPr>
          <a:xfrm>
            <a:off x="829985" y="3646974"/>
            <a:ext cx="12954952" cy="27027"/>
          </a:xfrm>
          <a:prstGeom prst="rect">
            <a:avLst/>
          </a:prstGeom>
          <a:solidFill>
            <a:srgbClr val="272525">
              <a:alpha val="50000"/>
            </a:srgbClr>
          </a:solidFill>
          <a:ln/>
        </p:spPr>
        <p:txBody>
          <a:bodyPr/>
          <a:lstStyle/>
          <a:p>
            <a:endParaRPr lang="en-IN"/>
          </a:p>
        </p:txBody>
      </p:sp>
      <p:sp>
        <p:nvSpPr>
          <p:cNvPr id="9" name="Text 7"/>
          <p:cNvSpPr/>
          <p:nvPr/>
        </p:nvSpPr>
        <p:spPr>
          <a:xfrm>
            <a:off x="837724" y="3849172"/>
            <a:ext cx="4148614" cy="228719"/>
          </a:xfrm>
          <a:prstGeom prst="rect">
            <a:avLst/>
          </a:prstGeom>
          <a:noFill/>
          <a:ln/>
        </p:spPr>
        <p:txBody>
          <a:bodyPr wrap="none" lIns="0" tIns="0" rIns="0" bIns="0" rtlCol="0" anchor="t"/>
          <a:lstStyle/>
          <a:p>
            <a:pPr marL="0" indent="0" algn="l">
              <a:lnSpc>
                <a:spcPts val="1800"/>
              </a:lnSpc>
              <a:buNone/>
            </a:pPr>
            <a:r>
              <a:rPr lang="en-US" sz="1400" dirty="0">
                <a:solidFill>
                  <a:srgbClr val="D73AD7"/>
                </a:solidFill>
                <a:latin typeface="Source Serif 4 Semi Bold" pitchFamily="34" charset="0"/>
                <a:ea typeface="Source Serif 4 Semi Bold" pitchFamily="34" charset="-122"/>
                <a:cs typeface="Source Serif 4 Semi Bold" pitchFamily="34" charset="-120"/>
              </a:rPr>
              <a:t>Query 10: Ranking Brands by Average Discount</a:t>
            </a:r>
            <a:endParaRPr lang="en-US" sz="1400" dirty="0"/>
          </a:p>
        </p:txBody>
      </p:sp>
      <p:sp>
        <p:nvSpPr>
          <p:cNvPr id="10" name="Shape 8"/>
          <p:cNvSpPr/>
          <p:nvPr/>
        </p:nvSpPr>
        <p:spPr>
          <a:xfrm>
            <a:off x="837724" y="4311253"/>
            <a:ext cx="12954952" cy="2722959"/>
          </a:xfrm>
          <a:prstGeom prst="roundRect">
            <a:avLst>
              <a:gd name="adj" fmla="val 2400"/>
            </a:avLst>
          </a:prstGeom>
          <a:solidFill>
            <a:srgbClr val="F2F2F2"/>
          </a:solidFill>
          <a:ln/>
        </p:spPr>
        <p:txBody>
          <a:bodyPr/>
          <a:lstStyle/>
          <a:p>
            <a:endParaRPr lang="en-IN"/>
          </a:p>
        </p:txBody>
      </p:sp>
      <p:sp>
        <p:nvSpPr>
          <p:cNvPr id="11" name="Shape 9"/>
          <p:cNvSpPr/>
          <p:nvPr/>
        </p:nvSpPr>
        <p:spPr>
          <a:xfrm>
            <a:off x="829985" y="4311253"/>
            <a:ext cx="12970431" cy="2722959"/>
          </a:xfrm>
          <a:prstGeom prst="roundRect">
            <a:avLst>
              <a:gd name="adj" fmla="val 857"/>
            </a:avLst>
          </a:prstGeom>
          <a:solidFill>
            <a:srgbClr val="F2F2F2"/>
          </a:solidFill>
          <a:ln/>
        </p:spPr>
        <p:txBody>
          <a:bodyPr/>
          <a:lstStyle/>
          <a:p>
            <a:endParaRPr lang="en-IN"/>
          </a:p>
        </p:txBody>
      </p:sp>
      <p:sp>
        <p:nvSpPr>
          <p:cNvPr id="12" name="Text 10"/>
          <p:cNvSpPr/>
          <p:nvPr/>
        </p:nvSpPr>
        <p:spPr>
          <a:xfrm>
            <a:off x="985480" y="4427934"/>
            <a:ext cx="12659439" cy="2489597"/>
          </a:xfrm>
          <a:prstGeom prst="rect">
            <a:avLst/>
          </a:prstGeom>
          <a:noFill/>
          <a:ln/>
        </p:spPr>
        <p:txBody>
          <a:bodyPr wrap="square" lIns="0" tIns="0" rIns="0" bIns="0" rtlCol="0" anchor="t"/>
          <a:lstStyle/>
          <a:p>
            <a:r>
              <a:rPr lang="en-US" sz="1400" dirty="0">
                <a:highlight>
                  <a:srgbClr val="F2F2F2"/>
                </a:highlight>
              </a:rPr>
              <a:t>WITH </a:t>
            </a:r>
            <a:r>
              <a:rPr lang="en-US" sz="1400" dirty="0" err="1">
                <a:highlight>
                  <a:srgbClr val="F2F2F2"/>
                </a:highlight>
              </a:rPr>
              <a:t>brand_summary</a:t>
            </a:r>
            <a:r>
              <a:rPr lang="en-US" sz="1400" dirty="0">
                <a:highlight>
                  <a:srgbClr val="F2F2F2"/>
                </a:highlight>
              </a:rPr>
              <a:t> AS (</a:t>
            </a:r>
          </a:p>
          <a:p>
            <a:r>
              <a:rPr lang="en-US" sz="1400" dirty="0">
                <a:highlight>
                  <a:srgbClr val="F2F2F2"/>
                </a:highlight>
              </a:rPr>
              <a:t>    SELECT </a:t>
            </a:r>
            <a:r>
              <a:rPr lang="en-US" sz="1400" dirty="0" err="1">
                <a:highlight>
                  <a:srgbClr val="F2F2F2"/>
                </a:highlight>
              </a:rPr>
              <a:t>brand_name</a:t>
            </a:r>
            <a:r>
              <a:rPr lang="en-US" sz="1400" dirty="0">
                <a:highlight>
                  <a:srgbClr val="F2F2F2"/>
                </a:highlight>
              </a:rPr>
              <a:t>, ROUND(AVG(</a:t>
            </a:r>
            <a:r>
              <a:rPr lang="en-US" sz="1400" dirty="0" err="1">
                <a:highlight>
                  <a:srgbClr val="F2F2F2"/>
                </a:highlight>
              </a:rPr>
              <a:t>discount_percent</a:t>
            </a:r>
            <a:r>
              <a:rPr lang="en-US" sz="1400" dirty="0">
                <a:highlight>
                  <a:srgbClr val="F2F2F2"/>
                </a:highlight>
              </a:rPr>
              <a:t>)) AS </a:t>
            </a:r>
            <a:r>
              <a:rPr lang="en-US" sz="1400" dirty="0" err="1">
                <a:highlight>
                  <a:srgbClr val="F2F2F2"/>
                </a:highlight>
              </a:rPr>
              <a:t>avg_discount</a:t>
            </a:r>
            <a:r>
              <a:rPr lang="en-US" sz="1400" dirty="0">
                <a:highlight>
                  <a:srgbClr val="F2F2F2"/>
                </a:highlight>
              </a:rPr>
              <a:t>, COUNT(*) AS </a:t>
            </a:r>
            <a:r>
              <a:rPr lang="en-US" sz="1400" dirty="0" err="1">
                <a:highlight>
                  <a:srgbClr val="F2F2F2"/>
                </a:highlight>
              </a:rPr>
              <a:t>product_count</a:t>
            </a:r>
            <a:r>
              <a:rPr lang="en-US" sz="1400" dirty="0">
                <a:highlight>
                  <a:srgbClr val="F2F2F2"/>
                </a:highlight>
              </a:rPr>
              <a:t>, </a:t>
            </a:r>
          </a:p>
          <a:p>
            <a:r>
              <a:rPr lang="en-US" sz="1400" dirty="0">
                <a:highlight>
                  <a:srgbClr val="F2F2F2"/>
                </a:highlight>
              </a:rPr>
              <a:t>    SUM(</a:t>
            </a:r>
            <a:r>
              <a:rPr lang="en-US" sz="1400" dirty="0" err="1">
                <a:highlight>
                  <a:srgbClr val="F2F2F2"/>
                </a:highlight>
              </a:rPr>
              <a:t>number_of_ratings</a:t>
            </a:r>
            <a:r>
              <a:rPr lang="en-US" sz="1400" dirty="0">
                <a:highlight>
                  <a:srgbClr val="F2F2F2"/>
                </a:highlight>
              </a:rPr>
              <a:t>) AS </a:t>
            </a:r>
            <a:r>
              <a:rPr lang="en-US" sz="1400" dirty="0" err="1">
                <a:highlight>
                  <a:srgbClr val="F2F2F2"/>
                </a:highlight>
              </a:rPr>
              <a:t>total_ratings</a:t>
            </a:r>
            <a:endParaRPr lang="en-US" sz="1400" dirty="0">
              <a:highlight>
                <a:srgbClr val="F2F2F2"/>
              </a:highlight>
            </a:endParaRPr>
          </a:p>
          <a:p>
            <a:r>
              <a:rPr lang="en-US" sz="1400" dirty="0">
                <a:highlight>
                  <a:srgbClr val="F2F2F2"/>
                </a:highlight>
              </a:rPr>
              <a:t>    FROM </a:t>
            </a:r>
            <a:r>
              <a:rPr lang="en-US" sz="1400" dirty="0" err="1">
                <a:highlight>
                  <a:srgbClr val="F2F2F2"/>
                </a:highlight>
              </a:rPr>
              <a:t>project_myntra</a:t>
            </a:r>
            <a:endParaRPr lang="en-US" sz="1400" dirty="0">
              <a:highlight>
                <a:srgbClr val="F2F2F2"/>
              </a:highlight>
            </a:endParaRPr>
          </a:p>
          <a:p>
            <a:r>
              <a:rPr lang="en-US" sz="1400" dirty="0">
                <a:highlight>
                  <a:srgbClr val="F2F2F2"/>
                </a:highlight>
              </a:rPr>
              <a:t>    GROUP BY </a:t>
            </a:r>
            <a:r>
              <a:rPr lang="en-US" sz="1400" dirty="0" err="1">
                <a:highlight>
                  <a:srgbClr val="F2F2F2"/>
                </a:highlight>
              </a:rPr>
              <a:t>brand_name</a:t>
            </a:r>
            <a:endParaRPr lang="en-US" sz="1400" dirty="0">
              <a:highlight>
                <a:srgbClr val="F2F2F2"/>
              </a:highlight>
            </a:endParaRPr>
          </a:p>
          <a:p>
            <a:r>
              <a:rPr lang="en-US" sz="1400" dirty="0">
                <a:highlight>
                  <a:srgbClr val="F2F2F2"/>
                </a:highlight>
              </a:rPr>
              <a:t>    HAVING COUNT(*) &gt;= 5 AND SUM(</a:t>
            </a:r>
            <a:r>
              <a:rPr lang="en-US" sz="1400" dirty="0" err="1">
                <a:highlight>
                  <a:srgbClr val="F2F2F2"/>
                </a:highlight>
              </a:rPr>
              <a:t>number_of_ratings</a:t>
            </a:r>
            <a:r>
              <a:rPr lang="en-US" sz="1400" dirty="0">
                <a:highlight>
                  <a:srgbClr val="F2F2F2"/>
                </a:highlight>
              </a:rPr>
              <a:t>) &gt; 1000</a:t>
            </a:r>
          </a:p>
          <a:p>
            <a:r>
              <a:rPr lang="en-US" sz="1400" dirty="0">
                <a:highlight>
                  <a:srgbClr val="F2F2F2"/>
                </a:highlight>
              </a:rPr>
              <a:t>)</a:t>
            </a:r>
          </a:p>
          <a:p>
            <a:r>
              <a:rPr lang="en-US" sz="1400" dirty="0">
                <a:highlight>
                  <a:srgbClr val="F2F2F2"/>
                </a:highlight>
              </a:rPr>
              <a:t>SELECT </a:t>
            </a:r>
            <a:r>
              <a:rPr lang="en-US" sz="1400" dirty="0" err="1">
                <a:highlight>
                  <a:srgbClr val="F2F2F2"/>
                </a:highlight>
              </a:rPr>
              <a:t>brand_name</a:t>
            </a:r>
            <a:r>
              <a:rPr lang="en-US" sz="1400" dirty="0">
                <a:highlight>
                  <a:srgbClr val="F2F2F2"/>
                </a:highlight>
              </a:rPr>
              <a:t>, </a:t>
            </a:r>
            <a:r>
              <a:rPr lang="en-US" sz="1400" dirty="0" err="1">
                <a:highlight>
                  <a:srgbClr val="F2F2F2"/>
                </a:highlight>
              </a:rPr>
              <a:t>avg_discount</a:t>
            </a:r>
            <a:r>
              <a:rPr lang="en-US" sz="1400" dirty="0">
                <a:highlight>
                  <a:srgbClr val="F2F2F2"/>
                </a:highlight>
              </a:rPr>
              <a:t>, </a:t>
            </a:r>
            <a:r>
              <a:rPr lang="en-US" sz="1400" dirty="0" err="1">
                <a:highlight>
                  <a:srgbClr val="F2F2F2"/>
                </a:highlight>
              </a:rPr>
              <a:t>product_count</a:t>
            </a:r>
            <a:r>
              <a:rPr lang="en-US" sz="1400" dirty="0">
                <a:highlight>
                  <a:srgbClr val="F2F2F2"/>
                </a:highlight>
              </a:rPr>
              <a:t>, </a:t>
            </a:r>
            <a:r>
              <a:rPr lang="en-US" sz="1400" dirty="0" err="1">
                <a:highlight>
                  <a:srgbClr val="F2F2F2"/>
                </a:highlight>
              </a:rPr>
              <a:t>total_ratings</a:t>
            </a:r>
            <a:r>
              <a:rPr lang="en-US" sz="1400" dirty="0">
                <a:highlight>
                  <a:srgbClr val="F2F2F2"/>
                </a:highlight>
              </a:rPr>
              <a:t>,</a:t>
            </a:r>
          </a:p>
          <a:p>
            <a:r>
              <a:rPr lang="en-US" sz="1400" dirty="0">
                <a:highlight>
                  <a:srgbClr val="F2F2F2"/>
                </a:highlight>
              </a:rPr>
              <a:t>       DENSE_RANK() OVER (ORDER BY </a:t>
            </a:r>
            <a:r>
              <a:rPr lang="en-US" sz="1400" dirty="0" err="1">
                <a:highlight>
                  <a:srgbClr val="F2F2F2"/>
                </a:highlight>
              </a:rPr>
              <a:t>avg_discount</a:t>
            </a:r>
            <a:r>
              <a:rPr lang="en-US" sz="1400" dirty="0">
                <a:highlight>
                  <a:srgbClr val="F2F2F2"/>
                </a:highlight>
              </a:rPr>
              <a:t> DESC) AS </a:t>
            </a:r>
            <a:r>
              <a:rPr lang="en-US" sz="1400" dirty="0" err="1">
                <a:highlight>
                  <a:srgbClr val="F2F2F2"/>
                </a:highlight>
              </a:rPr>
              <a:t>discount_rank</a:t>
            </a:r>
            <a:endParaRPr lang="en-US" sz="1400" dirty="0">
              <a:highlight>
                <a:srgbClr val="F2F2F2"/>
              </a:highlight>
            </a:endParaRPr>
          </a:p>
          <a:p>
            <a:r>
              <a:rPr lang="en-US" sz="1400" dirty="0">
                <a:highlight>
                  <a:srgbClr val="F2F2F2"/>
                </a:highlight>
              </a:rPr>
              <a:t>FROM </a:t>
            </a:r>
            <a:r>
              <a:rPr lang="en-US" sz="1400" dirty="0" err="1">
                <a:highlight>
                  <a:srgbClr val="F2F2F2"/>
                </a:highlight>
              </a:rPr>
              <a:t>brand_summary</a:t>
            </a:r>
            <a:endParaRPr lang="en-US" sz="1400" dirty="0">
              <a:highlight>
                <a:srgbClr val="F2F2F2"/>
              </a:highlight>
            </a:endParaRPr>
          </a:p>
          <a:p>
            <a:r>
              <a:rPr lang="en-US" sz="1400" dirty="0">
                <a:highlight>
                  <a:srgbClr val="F2F2F2"/>
                </a:highlight>
              </a:rPr>
              <a:t>ORDER BY </a:t>
            </a:r>
            <a:r>
              <a:rPr lang="en-US" sz="1400" dirty="0" err="1">
                <a:highlight>
                  <a:srgbClr val="F2F2F2"/>
                </a:highlight>
              </a:rPr>
              <a:t>discount_rank</a:t>
            </a:r>
            <a:r>
              <a:rPr lang="en-US" sz="1400" dirty="0">
                <a:highlight>
                  <a:srgbClr val="F2F2F2"/>
                </a:highlight>
              </a:rPr>
              <a:t>;</a:t>
            </a:r>
          </a:p>
        </p:txBody>
      </p:sp>
      <p:sp>
        <p:nvSpPr>
          <p:cNvPr id="13" name="Text 11"/>
          <p:cNvSpPr/>
          <p:nvPr/>
        </p:nvSpPr>
        <p:spPr>
          <a:xfrm>
            <a:off x="837724" y="7209234"/>
            <a:ext cx="12954952" cy="256580"/>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Source Sans 3" pitchFamily="34" charset="0"/>
                <a:ea typeface="Source Sans 3" pitchFamily="34" charset="-122"/>
                <a:cs typeface="Source Sans 3" pitchFamily="34" charset="-120"/>
              </a:rPr>
              <a:t>🔹</a:t>
            </a:r>
            <a:r>
              <a:rPr lang="en-US" sz="1200" dirty="0">
                <a:solidFill>
                  <a:srgbClr val="272525"/>
                </a:solidFill>
                <a:latin typeface="Source Sans 3" pitchFamily="34" charset="0"/>
                <a:ea typeface="Source Sans 3" pitchFamily="34" charset="-122"/>
                <a:cs typeface="Source Sans 3" pitchFamily="34" charset="-120"/>
              </a:rPr>
              <a:t> Ranks brands based on discount offerings with engagement criteria.</a:t>
            </a:r>
            <a:endParaRPr lang="en-US" sz="1200" dirty="0"/>
          </a:p>
        </p:txBody>
      </p:sp>
      <p:pic>
        <p:nvPicPr>
          <p:cNvPr id="15" name="Picture 14">
            <a:extLst>
              <a:ext uri="{FF2B5EF4-FFF2-40B4-BE49-F238E27FC236}">
                <a16:creationId xmlns:a16="http://schemas.microsoft.com/office/drawing/2014/main" id="{CCACE6A8-53B8-761F-4BC3-353576C9C872}"/>
              </a:ext>
            </a:extLst>
          </p:cNvPr>
          <p:cNvPicPr>
            <a:picLocks noChangeAspect="1"/>
          </p:cNvPicPr>
          <p:nvPr/>
        </p:nvPicPr>
        <p:blipFill>
          <a:blip r:embed="rId3"/>
          <a:stretch>
            <a:fillRect/>
          </a:stretch>
        </p:blipFill>
        <p:spPr>
          <a:xfrm>
            <a:off x="9375820" y="2020846"/>
            <a:ext cx="3779810" cy="980241"/>
          </a:xfrm>
          <a:prstGeom prst="rect">
            <a:avLst/>
          </a:prstGeom>
        </p:spPr>
      </p:pic>
      <p:pic>
        <p:nvPicPr>
          <p:cNvPr id="17" name="Picture 16">
            <a:extLst>
              <a:ext uri="{FF2B5EF4-FFF2-40B4-BE49-F238E27FC236}">
                <a16:creationId xmlns:a16="http://schemas.microsoft.com/office/drawing/2014/main" id="{9E93ED63-45C7-0479-DB62-3CCE58FA040C}"/>
              </a:ext>
            </a:extLst>
          </p:cNvPr>
          <p:cNvPicPr>
            <a:picLocks noChangeAspect="1"/>
          </p:cNvPicPr>
          <p:nvPr/>
        </p:nvPicPr>
        <p:blipFill>
          <a:blip r:embed="rId4"/>
          <a:stretch>
            <a:fillRect/>
          </a:stretch>
        </p:blipFill>
        <p:spPr>
          <a:xfrm>
            <a:off x="8806861" y="4936548"/>
            <a:ext cx="4845797" cy="1472367"/>
          </a:xfrm>
          <a:prstGeom prst="rect">
            <a:avLst/>
          </a:prstGeom>
        </p:spPr>
      </p:pic>
      <p:sp>
        <p:nvSpPr>
          <p:cNvPr id="19" name="TextBox 18">
            <a:extLst>
              <a:ext uri="{FF2B5EF4-FFF2-40B4-BE49-F238E27FC236}">
                <a16:creationId xmlns:a16="http://schemas.microsoft.com/office/drawing/2014/main" id="{12E0CEAA-1E03-4FBD-235A-0F140CD64363}"/>
              </a:ext>
            </a:extLst>
          </p:cNvPr>
          <p:cNvSpPr txBox="1"/>
          <p:nvPr/>
        </p:nvSpPr>
        <p:spPr>
          <a:xfrm>
            <a:off x="750013" y="3280321"/>
            <a:ext cx="8846049" cy="276999"/>
          </a:xfrm>
          <a:prstGeom prst="rect">
            <a:avLst/>
          </a:prstGeom>
          <a:noFill/>
        </p:spPr>
        <p:txBody>
          <a:bodyPr wrap="square">
            <a:spAutoFit/>
          </a:bodyPr>
          <a:lstStyle/>
          <a:p>
            <a:r>
              <a:rPr lang="en-US" sz="1200" dirty="0"/>
              <a:t>✅ Insight: This query highlights </a:t>
            </a:r>
            <a:r>
              <a:rPr lang="en-US" sz="1200" b="1" dirty="0"/>
              <a:t>highly-rated products that are selling at a significant discount (less than 50% of MRP)</a:t>
            </a:r>
            <a:r>
              <a:rPr lang="en-US" sz="1200" dirty="0"/>
              <a:t>.</a:t>
            </a:r>
            <a:endParaRPr lang="en-IN" sz="1200" dirty="0"/>
          </a:p>
        </p:txBody>
      </p:sp>
      <p:sp>
        <p:nvSpPr>
          <p:cNvPr id="21" name="TextBox 20">
            <a:extLst>
              <a:ext uri="{FF2B5EF4-FFF2-40B4-BE49-F238E27FC236}">
                <a16:creationId xmlns:a16="http://schemas.microsoft.com/office/drawing/2014/main" id="{C2260239-36DD-878D-1546-2A1CD7813314}"/>
              </a:ext>
            </a:extLst>
          </p:cNvPr>
          <p:cNvSpPr txBox="1"/>
          <p:nvPr/>
        </p:nvSpPr>
        <p:spPr>
          <a:xfrm>
            <a:off x="750012" y="7471941"/>
            <a:ext cx="10777591" cy="276999"/>
          </a:xfrm>
          <a:prstGeom prst="rect">
            <a:avLst/>
          </a:prstGeom>
          <a:noFill/>
        </p:spPr>
        <p:txBody>
          <a:bodyPr wrap="square">
            <a:spAutoFit/>
          </a:bodyPr>
          <a:lstStyle/>
          <a:p>
            <a:r>
              <a:rPr lang="en-US" sz="1200" dirty="0"/>
              <a:t>✅ Insight: This query identifies </a:t>
            </a:r>
            <a:r>
              <a:rPr lang="en-US" sz="1200" b="1" dirty="0"/>
              <a:t>brands that actively offer significant discounts</a:t>
            </a:r>
            <a:r>
              <a:rPr lang="en-US" sz="1200" dirty="0"/>
              <a:t> while maintaining a substantial product catalog and customer engagement.</a:t>
            </a:r>
            <a:endParaRPr lang="en-IN"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69144" y="2179141"/>
            <a:ext cx="5694283" cy="528042"/>
          </a:xfrm>
          <a:prstGeom prst="rect">
            <a:avLst/>
          </a:prstGeom>
          <a:noFill/>
          <a:ln/>
        </p:spPr>
        <p:txBody>
          <a:bodyPr wrap="none" lIns="0" tIns="0" rIns="0" bIns="0" rtlCol="0" anchor="t"/>
          <a:lstStyle/>
          <a:p>
            <a:pPr marL="0" indent="0" algn="l">
              <a:lnSpc>
                <a:spcPts val="4150"/>
              </a:lnSpc>
              <a:buNone/>
            </a:pPr>
            <a:r>
              <a:rPr lang="en-US" sz="3300" dirty="0">
                <a:solidFill>
                  <a:srgbClr val="000000"/>
                </a:solidFill>
                <a:latin typeface="Source Serif 4 Semi Bold" pitchFamily="34" charset="0"/>
                <a:ea typeface="Source Serif 4 Semi Bold" pitchFamily="34" charset="-122"/>
                <a:cs typeface="Source Serif 4 Semi Bold" pitchFamily="34" charset="-120"/>
              </a:rPr>
              <a:t>📈</a:t>
            </a:r>
            <a:r>
              <a:rPr lang="en-US" sz="3300" dirty="0">
                <a:solidFill>
                  <a:srgbClr val="D73AD7"/>
                </a:solidFill>
                <a:latin typeface="Source Serif 4 Semi Bold" pitchFamily="34" charset="0"/>
                <a:ea typeface="Source Serif 4 Semi Bold" pitchFamily="34" charset="-122"/>
                <a:cs typeface="Source Serif 4 Semi Bold" pitchFamily="34" charset="-120"/>
              </a:rPr>
              <a:t> 5. Key Insights Summary</a:t>
            </a:r>
            <a:endParaRPr lang="en-US" sz="3300" dirty="0"/>
          </a:p>
        </p:txBody>
      </p:sp>
      <p:sp>
        <p:nvSpPr>
          <p:cNvPr id="3" name="Shape 1"/>
          <p:cNvSpPr/>
          <p:nvPr/>
        </p:nvSpPr>
        <p:spPr>
          <a:xfrm>
            <a:off x="769144" y="3066157"/>
            <a:ext cx="4198620" cy="1358146"/>
          </a:xfrm>
          <a:prstGeom prst="roundRect">
            <a:avLst>
              <a:gd name="adj" fmla="val 8079"/>
            </a:avLst>
          </a:prstGeom>
          <a:solidFill>
            <a:srgbClr val="FFFFFF">
              <a:alpha val="95000"/>
            </a:srgbClr>
          </a:solidFill>
          <a:ln w="22860">
            <a:solidFill>
              <a:srgbClr val="DABADD"/>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746284" y="3066157"/>
            <a:ext cx="91440" cy="1358146"/>
          </a:xfrm>
          <a:prstGeom prst="rect">
            <a:avLst/>
          </a:prstGeom>
        </p:spPr>
      </p:pic>
      <p:sp>
        <p:nvSpPr>
          <p:cNvPr id="5" name="Text 2"/>
          <p:cNvSpPr/>
          <p:nvPr/>
        </p:nvSpPr>
        <p:spPr>
          <a:xfrm>
            <a:off x="1040011" y="3268444"/>
            <a:ext cx="2112169" cy="271582"/>
          </a:xfrm>
          <a:prstGeom prst="rect">
            <a:avLst/>
          </a:prstGeom>
          <a:noFill/>
          <a:ln/>
        </p:spPr>
        <p:txBody>
          <a:bodyPr wrap="none" lIns="0" tIns="0" rIns="0" bIns="0" rtlCol="0" anchor="t"/>
          <a:lstStyle/>
          <a:p>
            <a:pPr marL="0" indent="0" algn="l">
              <a:lnSpc>
                <a:spcPts val="2050"/>
              </a:lnSpc>
              <a:buNone/>
            </a:pPr>
            <a:r>
              <a:rPr lang="en-US" sz="1650" dirty="0">
                <a:solidFill>
                  <a:srgbClr val="000000"/>
                </a:solidFill>
                <a:latin typeface="Source Serif 4 Semi Bold" pitchFamily="34" charset="0"/>
                <a:ea typeface="Source Serif 4 Semi Bold" pitchFamily="34" charset="-122"/>
                <a:cs typeface="Source Serif 4 Semi Bold" pitchFamily="34" charset="-120"/>
              </a:rPr>
              <a:t>⭐</a:t>
            </a:r>
            <a:r>
              <a:rPr lang="en-US" sz="1650" dirty="0">
                <a:solidFill>
                  <a:srgbClr val="272525"/>
                </a:solidFill>
                <a:latin typeface="Source Serif 4 Semi Bold" pitchFamily="34" charset="0"/>
                <a:ea typeface="Source Serif 4 Semi Bold" pitchFamily="34" charset="-122"/>
                <a:cs typeface="Source Serif 4 Semi Bold" pitchFamily="34" charset="-120"/>
              </a:rPr>
              <a:t> Top Brands</a:t>
            </a:r>
            <a:endParaRPr lang="en-US" sz="1650" dirty="0"/>
          </a:p>
        </p:txBody>
      </p:sp>
      <p:sp>
        <p:nvSpPr>
          <p:cNvPr id="6" name="Text 3"/>
          <p:cNvSpPr/>
          <p:nvPr/>
        </p:nvSpPr>
        <p:spPr>
          <a:xfrm>
            <a:off x="1040011" y="3647658"/>
            <a:ext cx="3725466" cy="574358"/>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3" pitchFamily="34" charset="0"/>
                <a:ea typeface="Source Sans 3" pitchFamily="34" charset="-122"/>
                <a:cs typeface="Source Sans 3" pitchFamily="34" charset="-120"/>
              </a:rPr>
              <a:t>Brands with consistently high average ratings maintain strong trust.</a:t>
            </a:r>
            <a:endParaRPr lang="en-US" sz="1400" dirty="0"/>
          </a:p>
        </p:txBody>
      </p:sp>
      <p:sp>
        <p:nvSpPr>
          <p:cNvPr id="7" name="Shape 4"/>
          <p:cNvSpPr/>
          <p:nvPr/>
        </p:nvSpPr>
        <p:spPr>
          <a:xfrm>
            <a:off x="5147191" y="3066157"/>
            <a:ext cx="4198739" cy="1358146"/>
          </a:xfrm>
          <a:prstGeom prst="roundRect">
            <a:avLst>
              <a:gd name="adj" fmla="val 8079"/>
            </a:avLst>
          </a:prstGeom>
          <a:solidFill>
            <a:srgbClr val="FFFFFF">
              <a:alpha val="95000"/>
            </a:srgbClr>
          </a:solidFill>
          <a:ln w="22860">
            <a:solidFill>
              <a:srgbClr val="DABADD"/>
            </a:solidFill>
            <a:prstDash val="solid"/>
          </a:ln>
        </p:spPr>
        <p:txBody>
          <a:bodyPr/>
          <a:lstStyle/>
          <a:p>
            <a:endParaRPr lang="en-IN"/>
          </a:p>
        </p:txBody>
      </p:sp>
      <p:pic>
        <p:nvPicPr>
          <p:cNvPr id="8" name="Image 1" descr="preencoded.png"/>
          <p:cNvPicPr>
            <a:picLocks noChangeAspect="1"/>
          </p:cNvPicPr>
          <p:nvPr/>
        </p:nvPicPr>
        <p:blipFill>
          <a:blip r:embed="rId3"/>
          <a:stretch>
            <a:fillRect/>
          </a:stretch>
        </p:blipFill>
        <p:spPr>
          <a:xfrm>
            <a:off x="5124331" y="3066157"/>
            <a:ext cx="91440" cy="1358146"/>
          </a:xfrm>
          <a:prstGeom prst="rect">
            <a:avLst/>
          </a:prstGeom>
        </p:spPr>
      </p:pic>
      <p:sp>
        <p:nvSpPr>
          <p:cNvPr id="9" name="Text 5"/>
          <p:cNvSpPr/>
          <p:nvPr/>
        </p:nvSpPr>
        <p:spPr>
          <a:xfrm>
            <a:off x="5418058" y="3268444"/>
            <a:ext cx="2112169" cy="271582"/>
          </a:xfrm>
          <a:prstGeom prst="rect">
            <a:avLst/>
          </a:prstGeom>
          <a:noFill/>
          <a:ln/>
        </p:spPr>
        <p:txBody>
          <a:bodyPr wrap="none" lIns="0" tIns="0" rIns="0" bIns="0" rtlCol="0" anchor="t"/>
          <a:lstStyle/>
          <a:p>
            <a:pPr marL="0" indent="0" algn="l">
              <a:lnSpc>
                <a:spcPts val="2050"/>
              </a:lnSpc>
              <a:buNone/>
            </a:pPr>
            <a:r>
              <a:rPr lang="en-US" sz="1650" dirty="0">
                <a:solidFill>
                  <a:srgbClr val="000000"/>
                </a:solidFill>
                <a:latin typeface="Source Serif 4 Semi Bold" pitchFamily="34" charset="0"/>
                <a:ea typeface="Source Serif 4 Semi Bold" pitchFamily="34" charset="-122"/>
                <a:cs typeface="Source Serif 4 Semi Bold" pitchFamily="34" charset="-120"/>
              </a:rPr>
              <a:t>💰</a:t>
            </a:r>
            <a:r>
              <a:rPr lang="en-US" sz="1650" dirty="0">
                <a:solidFill>
                  <a:srgbClr val="272525"/>
                </a:solidFill>
                <a:latin typeface="Source Serif 4 Semi Bold" pitchFamily="34" charset="0"/>
                <a:ea typeface="Source Serif 4 Semi Bold" pitchFamily="34" charset="-122"/>
                <a:cs typeface="Source Serif 4 Semi Bold" pitchFamily="34" charset="-120"/>
              </a:rPr>
              <a:t> Revenue Leaders</a:t>
            </a:r>
            <a:endParaRPr lang="en-US" sz="1650" dirty="0"/>
          </a:p>
        </p:txBody>
      </p:sp>
      <p:sp>
        <p:nvSpPr>
          <p:cNvPr id="10" name="Text 6"/>
          <p:cNvSpPr/>
          <p:nvPr/>
        </p:nvSpPr>
        <p:spPr>
          <a:xfrm>
            <a:off x="5418058" y="3647658"/>
            <a:ext cx="3725585" cy="574358"/>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3" pitchFamily="34" charset="0"/>
                <a:ea typeface="Source Sans 3" pitchFamily="34" charset="-122"/>
                <a:cs typeface="Source Sans 3" pitchFamily="34" charset="-120"/>
              </a:rPr>
              <a:t>Brands with high product ratings and wide reach dominate revenue.</a:t>
            </a:r>
            <a:endParaRPr lang="en-US" sz="1400" dirty="0"/>
          </a:p>
        </p:txBody>
      </p:sp>
      <p:sp>
        <p:nvSpPr>
          <p:cNvPr id="11" name="Shape 7"/>
          <p:cNvSpPr/>
          <p:nvPr/>
        </p:nvSpPr>
        <p:spPr>
          <a:xfrm>
            <a:off x="9525357" y="3066157"/>
            <a:ext cx="4198739" cy="1358146"/>
          </a:xfrm>
          <a:prstGeom prst="roundRect">
            <a:avLst>
              <a:gd name="adj" fmla="val 8079"/>
            </a:avLst>
          </a:prstGeom>
          <a:solidFill>
            <a:srgbClr val="FFFFFF">
              <a:alpha val="95000"/>
            </a:srgbClr>
          </a:solidFill>
          <a:ln w="22860">
            <a:solidFill>
              <a:srgbClr val="DABADD"/>
            </a:solidFill>
            <a:prstDash val="solid"/>
          </a:ln>
        </p:spPr>
        <p:txBody>
          <a:bodyPr/>
          <a:lstStyle/>
          <a:p>
            <a:endParaRPr lang="en-IN"/>
          </a:p>
        </p:txBody>
      </p:sp>
      <p:pic>
        <p:nvPicPr>
          <p:cNvPr id="12" name="Image 2" descr="preencoded.png"/>
          <p:cNvPicPr>
            <a:picLocks noChangeAspect="1"/>
          </p:cNvPicPr>
          <p:nvPr/>
        </p:nvPicPr>
        <p:blipFill>
          <a:blip r:embed="rId3"/>
          <a:stretch>
            <a:fillRect/>
          </a:stretch>
        </p:blipFill>
        <p:spPr>
          <a:xfrm>
            <a:off x="9502497" y="3066157"/>
            <a:ext cx="91440" cy="1358146"/>
          </a:xfrm>
          <a:prstGeom prst="rect">
            <a:avLst/>
          </a:prstGeom>
        </p:spPr>
      </p:pic>
      <p:sp>
        <p:nvSpPr>
          <p:cNvPr id="13" name="Text 8"/>
          <p:cNvSpPr/>
          <p:nvPr/>
        </p:nvSpPr>
        <p:spPr>
          <a:xfrm>
            <a:off x="9796224" y="3268444"/>
            <a:ext cx="2112169" cy="271582"/>
          </a:xfrm>
          <a:prstGeom prst="rect">
            <a:avLst/>
          </a:prstGeom>
          <a:noFill/>
          <a:ln/>
        </p:spPr>
        <p:txBody>
          <a:bodyPr wrap="none" lIns="0" tIns="0" rIns="0" bIns="0" rtlCol="0" anchor="t"/>
          <a:lstStyle/>
          <a:p>
            <a:pPr marL="0" indent="0" algn="l">
              <a:lnSpc>
                <a:spcPts val="2050"/>
              </a:lnSpc>
              <a:buNone/>
            </a:pPr>
            <a:r>
              <a:rPr lang="en-US" sz="1650" dirty="0">
                <a:solidFill>
                  <a:srgbClr val="000000"/>
                </a:solidFill>
                <a:latin typeface="Source Serif 4 Semi Bold" pitchFamily="34" charset="0"/>
                <a:ea typeface="Source Serif 4 Semi Bold" pitchFamily="34" charset="-122"/>
                <a:cs typeface="Source Serif 4 Semi Bold" pitchFamily="34" charset="-120"/>
              </a:rPr>
              <a:t>💸</a:t>
            </a:r>
            <a:r>
              <a:rPr lang="en-US" sz="1650" dirty="0">
                <a:solidFill>
                  <a:srgbClr val="272525"/>
                </a:solidFill>
                <a:latin typeface="Source Serif 4 Semi Bold" pitchFamily="34" charset="0"/>
                <a:ea typeface="Source Serif 4 Semi Bold" pitchFamily="34" charset="-122"/>
                <a:cs typeface="Source Serif 4 Semi Bold" pitchFamily="34" charset="-120"/>
              </a:rPr>
              <a:t> Discounts</a:t>
            </a:r>
            <a:endParaRPr lang="en-US" sz="1650" dirty="0"/>
          </a:p>
        </p:txBody>
      </p:sp>
      <p:sp>
        <p:nvSpPr>
          <p:cNvPr id="14" name="Text 9"/>
          <p:cNvSpPr/>
          <p:nvPr/>
        </p:nvSpPr>
        <p:spPr>
          <a:xfrm>
            <a:off x="9796224" y="3647658"/>
            <a:ext cx="3725585" cy="574358"/>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3" pitchFamily="34" charset="0"/>
                <a:ea typeface="Source Sans 3" pitchFamily="34" charset="-122"/>
                <a:cs typeface="Source Sans 3" pitchFamily="34" charset="-120"/>
              </a:rPr>
              <a:t>Deep discounts often correlate with average or below-average ratings.</a:t>
            </a:r>
            <a:endParaRPr lang="en-US" sz="1400" dirty="0"/>
          </a:p>
        </p:txBody>
      </p:sp>
      <p:sp>
        <p:nvSpPr>
          <p:cNvPr id="15" name="Shape 10"/>
          <p:cNvSpPr/>
          <p:nvPr/>
        </p:nvSpPr>
        <p:spPr>
          <a:xfrm>
            <a:off x="769144" y="4603730"/>
            <a:ext cx="4198620" cy="1358146"/>
          </a:xfrm>
          <a:prstGeom prst="roundRect">
            <a:avLst>
              <a:gd name="adj" fmla="val 8079"/>
            </a:avLst>
          </a:prstGeom>
          <a:solidFill>
            <a:srgbClr val="FFFFFF">
              <a:alpha val="95000"/>
            </a:srgbClr>
          </a:solidFill>
          <a:ln w="22860">
            <a:solidFill>
              <a:srgbClr val="DABADD"/>
            </a:solidFill>
            <a:prstDash val="solid"/>
          </a:ln>
        </p:spPr>
        <p:txBody>
          <a:bodyPr/>
          <a:lstStyle/>
          <a:p>
            <a:endParaRPr lang="en-IN"/>
          </a:p>
        </p:txBody>
      </p:sp>
      <p:pic>
        <p:nvPicPr>
          <p:cNvPr id="16" name="Image 3" descr="preencoded.png"/>
          <p:cNvPicPr>
            <a:picLocks noChangeAspect="1"/>
          </p:cNvPicPr>
          <p:nvPr/>
        </p:nvPicPr>
        <p:blipFill>
          <a:blip r:embed="rId3"/>
          <a:stretch>
            <a:fillRect/>
          </a:stretch>
        </p:blipFill>
        <p:spPr>
          <a:xfrm>
            <a:off x="746284" y="4603730"/>
            <a:ext cx="91440" cy="1358146"/>
          </a:xfrm>
          <a:prstGeom prst="rect">
            <a:avLst/>
          </a:prstGeom>
        </p:spPr>
      </p:pic>
      <p:sp>
        <p:nvSpPr>
          <p:cNvPr id="17" name="Text 11"/>
          <p:cNvSpPr/>
          <p:nvPr/>
        </p:nvSpPr>
        <p:spPr>
          <a:xfrm>
            <a:off x="1040011" y="4806017"/>
            <a:ext cx="2112169" cy="271582"/>
          </a:xfrm>
          <a:prstGeom prst="rect">
            <a:avLst/>
          </a:prstGeom>
          <a:noFill/>
          <a:ln/>
        </p:spPr>
        <p:txBody>
          <a:bodyPr wrap="none" lIns="0" tIns="0" rIns="0" bIns="0" rtlCol="0" anchor="t"/>
          <a:lstStyle/>
          <a:p>
            <a:pPr marL="0" indent="0" algn="l">
              <a:lnSpc>
                <a:spcPts val="2050"/>
              </a:lnSpc>
              <a:buNone/>
            </a:pPr>
            <a:r>
              <a:rPr lang="en-US" sz="1650" dirty="0">
                <a:solidFill>
                  <a:srgbClr val="000000"/>
                </a:solidFill>
                <a:latin typeface="Source Serif 4 Semi Bold" pitchFamily="34" charset="0"/>
                <a:ea typeface="Source Serif 4 Semi Bold" pitchFamily="34" charset="-122"/>
                <a:cs typeface="Source Serif 4 Semi Bold" pitchFamily="34" charset="-120"/>
              </a:rPr>
              <a:t>🛍️</a:t>
            </a:r>
            <a:r>
              <a:rPr lang="en-US" sz="1650" dirty="0">
                <a:solidFill>
                  <a:srgbClr val="272525"/>
                </a:solidFill>
                <a:latin typeface="Source Serif 4 Semi Bold" pitchFamily="34" charset="0"/>
                <a:ea typeface="Source Serif 4 Semi Bold" pitchFamily="34" charset="-122"/>
                <a:cs typeface="Source Serif 4 Semi Bold" pitchFamily="34" charset="-120"/>
              </a:rPr>
              <a:t> Pricing</a:t>
            </a:r>
            <a:endParaRPr lang="en-US" sz="1650" dirty="0"/>
          </a:p>
        </p:txBody>
      </p:sp>
      <p:sp>
        <p:nvSpPr>
          <p:cNvPr id="18" name="Text 12"/>
          <p:cNvSpPr/>
          <p:nvPr/>
        </p:nvSpPr>
        <p:spPr>
          <a:xfrm>
            <a:off x="1040011" y="5185232"/>
            <a:ext cx="3725466" cy="574358"/>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3" pitchFamily="34" charset="0"/>
                <a:ea typeface="Source Sans 3" pitchFamily="34" charset="-122"/>
                <a:cs typeface="Source Sans 3" pitchFamily="34" charset="-120"/>
              </a:rPr>
              <a:t>Some brands charge premium prices despite lower user satisfaction.</a:t>
            </a:r>
            <a:endParaRPr lang="en-US" sz="1400" dirty="0"/>
          </a:p>
        </p:txBody>
      </p:sp>
      <p:sp>
        <p:nvSpPr>
          <p:cNvPr id="19" name="Shape 13"/>
          <p:cNvSpPr/>
          <p:nvPr/>
        </p:nvSpPr>
        <p:spPr>
          <a:xfrm>
            <a:off x="5147191" y="4603730"/>
            <a:ext cx="4198739" cy="1358146"/>
          </a:xfrm>
          <a:prstGeom prst="roundRect">
            <a:avLst>
              <a:gd name="adj" fmla="val 8079"/>
            </a:avLst>
          </a:prstGeom>
          <a:solidFill>
            <a:srgbClr val="FFFFFF">
              <a:alpha val="95000"/>
            </a:srgbClr>
          </a:solidFill>
          <a:ln w="22860">
            <a:solidFill>
              <a:srgbClr val="DABADD"/>
            </a:solidFill>
            <a:prstDash val="solid"/>
          </a:ln>
        </p:spPr>
        <p:txBody>
          <a:bodyPr/>
          <a:lstStyle/>
          <a:p>
            <a:endParaRPr lang="en-IN"/>
          </a:p>
        </p:txBody>
      </p:sp>
      <p:pic>
        <p:nvPicPr>
          <p:cNvPr id="20" name="Image 4" descr="preencoded.png"/>
          <p:cNvPicPr>
            <a:picLocks noChangeAspect="1"/>
          </p:cNvPicPr>
          <p:nvPr/>
        </p:nvPicPr>
        <p:blipFill>
          <a:blip r:embed="rId3"/>
          <a:stretch>
            <a:fillRect/>
          </a:stretch>
        </p:blipFill>
        <p:spPr>
          <a:xfrm>
            <a:off x="5124331" y="4603730"/>
            <a:ext cx="91440" cy="1358146"/>
          </a:xfrm>
          <a:prstGeom prst="rect">
            <a:avLst/>
          </a:prstGeom>
        </p:spPr>
      </p:pic>
      <p:sp>
        <p:nvSpPr>
          <p:cNvPr id="21" name="Text 14"/>
          <p:cNvSpPr/>
          <p:nvPr/>
        </p:nvSpPr>
        <p:spPr>
          <a:xfrm>
            <a:off x="5418058" y="4806017"/>
            <a:ext cx="2112169" cy="271582"/>
          </a:xfrm>
          <a:prstGeom prst="rect">
            <a:avLst/>
          </a:prstGeom>
          <a:noFill/>
          <a:ln/>
        </p:spPr>
        <p:txBody>
          <a:bodyPr wrap="none" lIns="0" tIns="0" rIns="0" bIns="0" rtlCol="0" anchor="t"/>
          <a:lstStyle/>
          <a:p>
            <a:pPr marL="0" indent="0" algn="l">
              <a:lnSpc>
                <a:spcPts val="2050"/>
              </a:lnSpc>
              <a:buNone/>
            </a:pPr>
            <a:r>
              <a:rPr lang="en-US" sz="1650" dirty="0">
                <a:solidFill>
                  <a:srgbClr val="000000"/>
                </a:solidFill>
                <a:latin typeface="Source Serif 4 Semi Bold" pitchFamily="34" charset="0"/>
                <a:ea typeface="Source Serif 4 Semi Bold" pitchFamily="34" charset="-122"/>
                <a:cs typeface="Source Serif 4 Semi Bold" pitchFamily="34" charset="-120"/>
              </a:rPr>
              <a:t>🧮</a:t>
            </a:r>
            <a:r>
              <a:rPr lang="en-US" sz="1650" dirty="0">
                <a:solidFill>
                  <a:srgbClr val="272525"/>
                </a:solidFill>
                <a:latin typeface="Source Serif 4 Semi Bold" pitchFamily="34" charset="0"/>
                <a:ea typeface="Source Serif 4 Semi Bold" pitchFamily="34" charset="-122"/>
                <a:cs typeface="Source Serif 4 Semi Bold" pitchFamily="34" charset="-120"/>
              </a:rPr>
              <a:t> Correlation</a:t>
            </a:r>
            <a:endParaRPr lang="en-US" sz="1650" dirty="0"/>
          </a:p>
        </p:txBody>
      </p:sp>
      <p:sp>
        <p:nvSpPr>
          <p:cNvPr id="22" name="Text 15"/>
          <p:cNvSpPr/>
          <p:nvPr/>
        </p:nvSpPr>
        <p:spPr>
          <a:xfrm>
            <a:off x="5418058" y="5185232"/>
            <a:ext cx="3725585" cy="574358"/>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3" pitchFamily="34" charset="0"/>
                <a:ea typeface="Source Sans 3" pitchFamily="34" charset="-122"/>
                <a:cs typeface="Source Sans 3" pitchFamily="34" charset="-120"/>
              </a:rPr>
              <a:t>Discounts and ratings may not always align — indicating quality perception matters more.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86</TotalTime>
  <Words>1631</Words>
  <Application>Microsoft Office PowerPoint</Application>
  <PresentationFormat>Custom</PresentationFormat>
  <Paragraphs>184</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Source Serif 4 Semi Bold</vt:lpstr>
      <vt:lpstr>Aptos Display</vt:lpstr>
      <vt:lpstr>Aptos</vt:lpstr>
      <vt:lpstr>Consolas</vt:lpstr>
      <vt:lpstr>Source Sans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Supriyo Maity</cp:lastModifiedBy>
  <cp:revision>6</cp:revision>
  <dcterms:created xsi:type="dcterms:W3CDTF">2025-10-09T13:33:58Z</dcterms:created>
  <dcterms:modified xsi:type="dcterms:W3CDTF">2025-10-09T15:00:36Z</dcterms:modified>
</cp:coreProperties>
</file>